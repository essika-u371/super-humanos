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ncuentro 2" id="{f74edfae-f05a-9aff-16df-161b0f92f93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Antes</c:v>
                </c:pt>
              </c:strCache>
            </c:strRef>
          </c:tx>
          <c:spPr>
            <a:solidFill>
              <a:srgbClr val="9A9A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D0D0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[Caso 1]</c:v>
                  </c:pt>
                  <c:pt idx="1">
                    <c:v>[Caso 2]</c:v>
                  </c:pt>
                  <c:pt idx="2">
                    <c:v>[Caso 3]</c:v>
                  </c:pt>
                  <c:pt idx="3">
                    <c:v>[Caso 4]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30</c:v>
                </c:pt>
                <c:pt idx="2">
                  <c:v>60</c:v>
                </c:pt>
                <c:pt idx="3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Después</c:v>
                </c:pt>
              </c:strCache>
            </c:strRef>
          </c:tx>
          <c:spPr>
            <a:solidFill>
              <a:srgbClr val="FCC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D0D0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[Caso 1]</c:v>
                  </c:pt>
                  <c:pt idx="1">
                    <c:v>[Caso 2]</c:v>
                  </c:pt>
                  <c:pt idx="2">
                    <c:v>[Caso 3]</c:v>
                  </c:pt>
                  <c:pt idx="3">
                    <c:v>[Caso 4]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12</c:v>
                </c:pt>
                <c:pt idx="2">
                  <c:v>25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D0D0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D0D0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DEDE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D0D0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 del encuentro 2. Cambia los marcadores. El recorrido de abajo marca en amarillo el taller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del encuentro 2. Los minutos son la distribución por defecto. Los puntos salen del manual de puntajes.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Repaso del reto. Dos cifras de participación y dos ejemplos de personas reales, con su permiso. Si hay capturas, reemplazan el texto de la tarjeta.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Aplicación. Cuatro pasos y el prompt de apoyo. El tiempo es el que ve la 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Tarjeta de caso. Duplica esta diapositiva por cada caso: tres o cuatro por encuentro. Las cifras de antes y después salen del formato «Mi proceso» de la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y después. Gráfico nativo de PowerPoint: se edita con clic derecho &gt; Editar datos. Serie «Antes» en gris, «Después» en amarillo.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Evaluación corta. Las reglas vienen del plan: diez preguntas, 70 % para aprobar, reintento permitido. La fecha límite es una semana después del encuentro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 de una pregunta. Se responde al cierre del taller. La escala es solo visual: la respuesta va por el chat o por la encuesta de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Puntos del mes. Las cifras salen del manual de puntajes. Si el manual cambia, cambia aquí y en la agenda.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Siguiente taller. Nombre, concepto y las tres fechas del próximo mes, del cronograma.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El correo del programa y el recorrido. Pinta de amarillo los talleres completados.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diapositiva de la plantilla. Se borra antes de presentar. Nombre del archivo: SH_[PERFIL]_T[N]_E2_[AAAAMMDD]. El pie de página se edita una sola vez por archivo en Vista &gt; Patrón de diapositivas.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Treinta y tres íconos del sistema Campus Pivot en tres variantes: círculo negro con trazo amarillo, trazo negro suelto y círculo amarillo con trazo negro. Son imágenes PNG de 512 px. El sprite SVG original vive en el design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D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rgbClr val="0D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accent1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CLA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Título de la diapositiva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Super Humanos · [PERFIL] · Taller [N] · Encuentro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OSCURO">
    <p:bg>
      <p:bgPr>
        <a:solidFill>
          <a:srgbClr val="0D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accent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Título de la diapositiva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Super Humanos · [PERFIL] · Taller [N] · Encuentro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accent1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BRE_CLA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Super Humanos · [PERFIL] · Taller [N] · Encuentro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BRE_OSCURO">
    <p:bg>
      <p:bgPr>
        <a:solidFill>
          <a:srgbClr val="0D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Super Humanos · [PERFIL] · Taller [N] · Encuentro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accent1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accent1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image" Target="../media/image-13-21.png"/><Relationship Id="rId22" Type="http://schemas.openxmlformats.org/officeDocument/2006/relationships/image" Target="../media/image-13-22.png"/><Relationship Id="rId23" Type="http://schemas.openxmlformats.org/officeDocument/2006/relationships/image" Target="../media/image-13-23.png"/><Relationship Id="rId24" Type="http://schemas.openxmlformats.org/officeDocument/2006/relationships/image" Target="../media/image-13-24.png"/><Relationship Id="rId25" Type="http://schemas.openxmlformats.org/officeDocument/2006/relationships/image" Target="../media/image-13-25.png"/><Relationship Id="rId26" Type="http://schemas.openxmlformats.org/officeDocument/2006/relationships/image" Target="../media/image-13-26.png"/><Relationship Id="rId27" Type="http://schemas.openxmlformats.org/officeDocument/2006/relationships/image" Target="../media/image-13-27.png"/><Relationship Id="rId28" Type="http://schemas.openxmlformats.org/officeDocument/2006/relationships/image" Target="../media/image-13-28.png"/><Relationship Id="rId29" Type="http://schemas.openxmlformats.org/officeDocument/2006/relationships/image" Target="../media/image-13-29.png"/><Relationship Id="rId30" Type="http://schemas.openxmlformats.org/officeDocument/2006/relationships/image" Target="../media/image-13-30.png"/><Relationship Id="rId31" Type="http://schemas.openxmlformats.org/officeDocument/2006/relationships/image" Target="../media/image-13-31.png"/><Relationship Id="rId32" Type="http://schemas.openxmlformats.org/officeDocument/2006/relationships/image" Target="../media/image-13-32.png"/><Relationship Id="rId33" Type="http://schemas.openxmlformats.org/officeDocument/2006/relationships/image" Target="../media/image-13-33.png"/><Relationship Id="rId34" Type="http://schemas.openxmlformats.org/officeDocument/2006/relationships/image" Target="../media/image-13-34.png"/><Relationship Id="rId35" Type="http://schemas.openxmlformats.org/officeDocument/2006/relationships/image" Target="../media/image-13-35.png"/><Relationship Id="rId36" Type="http://schemas.openxmlformats.org/officeDocument/2006/relationships/image" Target="../media/image-13-36.png"/><Relationship Id="rId37" Type="http://schemas.openxmlformats.org/officeDocument/2006/relationships/image" Target="../media/image-13-37.png"/><Relationship Id="rId38" Type="http://schemas.openxmlformats.org/officeDocument/2006/relationships/image" Target="../media/image-13-38.png"/><Relationship Id="rId39" Type="http://schemas.openxmlformats.org/officeDocument/2006/relationships/image" Target="../media/image-13-39.png"/><Relationship Id="rId40" Type="http://schemas.openxmlformats.org/officeDocument/2006/relationships/image" Target="../media/image-13-40.png"/><Relationship Id="rId41" Type="http://schemas.openxmlformats.org/officeDocument/2006/relationships/image" Target="../media/image-13-41.png"/><Relationship Id="rId42" Type="http://schemas.openxmlformats.org/officeDocument/2006/relationships/image" Target="../media/image-13-42.png"/><Relationship Id="rId43" Type="http://schemas.openxmlformats.org/officeDocument/2006/relationships/image" Target="../media/image-13-43.png"/><Relationship Id="rId44" Type="http://schemas.openxmlformats.org/officeDocument/2006/relationships/image" Target="../media/image-13-44.png"/><Relationship Id="rId45" Type="http://schemas.openxmlformats.org/officeDocument/2006/relationships/image" Target="../media/image-13-45.png"/><Relationship Id="rId46" Type="http://schemas.openxmlformats.org/officeDocument/2006/relationships/image" Target="../media/image-13-46.png"/><Relationship Id="rId47" Type="http://schemas.openxmlformats.org/officeDocument/2006/relationships/image" Target="../media/image-13-47.png"/><Relationship Id="rId48" Type="http://schemas.openxmlformats.org/officeDocument/2006/relationships/image" Target="../media/image-13-48.png"/><Relationship Id="rId49" Type="http://schemas.openxmlformats.org/officeDocument/2006/relationships/image" Target="../media/image-13-49.png"/><Relationship Id="rId50" Type="http://schemas.openxmlformats.org/officeDocument/2006/relationships/image" Target="../media/image-13-50.png"/><Relationship Id="rId51" Type="http://schemas.openxmlformats.org/officeDocument/2006/relationships/image" Target="../media/image-13-51.png"/><Relationship Id="rId52" Type="http://schemas.openxmlformats.org/officeDocument/2006/relationships/image" Target="../media/image-13-52.png"/><Relationship Id="rId53" Type="http://schemas.openxmlformats.org/officeDocument/2006/relationships/image" Target="../media/image-13-53.png"/><Relationship Id="rId54" Type="http://schemas.openxmlformats.org/officeDocument/2006/relationships/image" Target="../media/image-13-54.png"/><Relationship Id="rId55" Type="http://schemas.openxmlformats.org/officeDocument/2006/relationships/image" Target="../media/image-13-55.png"/><Relationship Id="rId56" Type="http://schemas.openxmlformats.org/officeDocument/2006/relationships/image" Target="../media/image-13-56.png"/><Relationship Id="rId57" Type="http://schemas.openxmlformats.org/officeDocument/2006/relationships/image" Target="../media/image-13-57.png"/><Relationship Id="rId58" Type="http://schemas.openxmlformats.org/officeDocument/2006/relationships/image" Target="../media/image-13-58.png"/><Relationship Id="rId59" Type="http://schemas.openxmlformats.org/officeDocument/2006/relationships/image" Target="../media/image-13-59.png"/><Relationship Id="rId60" Type="http://schemas.openxmlformats.org/officeDocument/2006/relationships/image" Target="../media/image-13-60.png"/><Relationship Id="rId61" Type="http://schemas.openxmlformats.org/officeDocument/2006/relationships/image" Target="../media/image-13-61.png"/><Relationship Id="rId62" Type="http://schemas.openxmlformats.org/officeDocument/2006/relationships/image" Target="../media/image-13-62.png"/><Relationship Id="rId63" Type="http://schemas.openxmlformats.org/officeDocument/2006/relationships/image" Target="../media/image-13-63.png"/><Relationship Id="rId64" Type="http://schemas.openxmlformats.org/officeDocument/2006/relationships/image" Target="../media/image-13-64.png"/><Relationship Id="rId65" Type="http://schemas.openxmlformats.org/officeDocument/2006/relationships/image" Target="../media/image-13-65.png"/><Relationship Id="rId66" Type="http://schemas.openxmlformats.org/officeDocument/2006/relationships/image" Target="../media/image-13-66.png"/><Relationship Id="rId67" Type="http://schemas.openxmlformats.org/officeDocument/2006/relationships/image" Target="../media/image-13-67.png"/><Relationship Id="rId68" Type="http://schemas.openxmlformats.org/officeDocument/2006/relationships/image" Target="../media/image-13-68.png"/><Relationship Id="rId69" Type="http://schemas.openxmlformats.org/officeDocument/2006/relationships/image" Target="../media/image-13-69.png"/><Relationship Id="rId70" Type="http://schemas.openxmlformats.org/officeDocument/2006/relationships/image" Target="../media/image-13-70.png"/><Relationship Id="rId71" Type="http://schemas.openxmlformats.org/officeDocument/2006/relationships/image" Target="../media/image-13-71.png"/><Relationship Id="rId72" Type="http://schemas.openxmlformats.org/officeDocument/2006/relationships/image" Target="../media/image-13-72.png"/><Relationship Id="rId73" Type="http://schemas.openxmlformats.org/officeDocument/2006/relationships/image" Target="../media/image-13-73.png"/><Relationship Id="rId74" Type="http://schemas.openxmlformats.org/officeDocument/2006/relationships/image" Target="../media/image-13-74.png"/><Relationship Id="rId75" Type="http://schemas.openxmlformats.org/officeDocument/2006/relationships/image" Target="../media/image-13-75.png"/><Relationship Id="rId76" Type="http://schemas.openxmlformats.org/officeDocument/2006/relationships/image" Target="../media/image-13-76.png"/><Relationship Id="rId77" Type="http://schemas.openxmlformats.org/officeDocument/2006/relationships/image" Target="../media/image-13-77.png"/><Relationship Id="rId78" Type="http://schemas.openxmlformats.org/officeDocument/2006/relationships/image" Target="../media/image-13-78.png"/><Relationship Id="rId79" Type="http://schemas.openxmlformats.org/officeDocument/2006/relationships/image" Target="../media/image-13-79.png"/><Relationship Id="rId80" Type="http://schemas.openxmlformats.org/officeDocument/2006/relationships/image" Target="../media/image-13-80.png"/><Relationship Id="rId81" Type="http://schemas.openxmlformats.org/officeDocument/2006/relationships/image" Target="../media/image-13-81.png"/><Relationship Id="rId82" Type="http://schemas.openxmlformats.org/officeDocument/2006/relationships/image" Target="../media/image-13-82.png"/><Relationship Id="rId83" Type="http://schemas.openxmlformats.org/officeDocument/2006/relationships/image" Target="../media/image-13-83.png"/><Relationship Id="rId84" Type="http://schemas.openxmlformats.org/officeDocument/2006/relationships/image" Target="../media/image-13-84.png"/><Relationship Id="rId85" Type="http://schemas.openxmlformats.org/officeDocument/2006/relationships/image" Target="../media/image-13-85.png"/><Relationship Id="rId86" Type="http://schemas.openxmlformats.org/officeDocument/2006/relationships/image" Target="../media/image-13-86.png"/><Relationship Id="rId87" Type="http://schemas.openxmlformats.org/officeDocument/2006/relationships/image" Target="../media/image-13-87.png"/><Relationship Id="rId88" Type="http://schemas.openxmlformats.org/officeDocument/2006/relationships/image" Target="../media/image-13-88.png"/><Relationship Id="rId89" Type="http://schemas.openxmlformats.org/officeDocument/2006/relationships/image" Target="../media/image-13-89.png"/><Relationship Id="rId90" Type="http://schemas.openxmlformats.org/officeDocument/2006/relationships/image" Target="../media/image-13-90.png"/><Relationship Id="rId91" Type="http://schemas.openxmlformats.org/officeDocument/2006/relationships/image" Target="../media/image-13-91.png"/><Relationship Id="rId92" Type="http://schemas.openxmlformats.org/officeDocument/2006/relationships/image" Target="../media/image-13-92.png"/><Relationship Id="rId93" Type="http://schemas.openxmlformats.org/officeDocument/2006/relationships/image" Target="../media/image-13-93.png"/><Relationship Id="rId94" Type="http://schemas.openxmlformats.org/officeDocument/2006/relationships/image" Target="../media/image-13-94.png"/><Relationship Id="rId95" Type="http://schemas.openxmlformats.org/officeDocument/2006/relationships/image" Target="../media/image-13-95.png"/><Relationship Id="rId96" Type="http://schemas.openxmlformats.org/officeDocument/2006/relationships/image" Target="../media/image-13-96.png"/><Relationship Id="rId97" Type="http://schemas.openxmlformats.org/officeDocument/2006/relationships/image" Target="../media/image-13-97.png"/><Relationship Id="rId98" Type="http://schemas.openxmlformats.org/officeDocument/2006/relationships/image" Target="../media/image-13-98.png"/><Relationship Id="rId99" Type="http://schemas.openxmlformats.org/officeDocument/2006/relationships/image" Target="../media/image-13-99.png"/><Relationship Id="rId100" Type="http://schemas.openxmlformats.org/officeDocument/2006/relationships/slideLayout" Target="../slideLayouts/slideLayout4.xml"/><Relationship Id="rId101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98525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SUPER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547165" y="550469"/>
            <a:ext cx="1474013" cy="380390"/>
          </a:xfrm>
          <a:prstGeom prst="rect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602029" y="502920"/>
            <a:ext cx="1474013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HUMANOS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86537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18288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[PERFIL] · TALLER [N] DE 6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488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600" b="1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[NOMBRE DEL TALLER]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20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[CONCEPTO DEL MES]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566928" y="4535424"/>
            <a:ext cx="201168" cy="301752"/>
          </a:xfrm>
          <a:prstGeom prst="chevron">
            <a:avLst/>
          </a:prstGeom>
          <a:solidFill>
            <a:srgbClr val="0D0D0C"/>
          </a:solidFill>
          <a:ln w="12700">
            <a:solidFill>
              <a:srgbClr val="0D0D0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434840"/>
            <a:ext cx="4754880" cy="50292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43484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i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ENCUENTRO 2 · APLICACIÓN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4434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90 minutos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778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[FECHA]</a:t>
            </a:r>
            <a:pPr indent="0" marL="0">
              <a:buNone/>
            </a:pPr>
            <a:r>
              <a:rPr lang="en-US" sz="16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·  [HORA]</a:t>
            </a:r>
            <a:pPr indent="0" marL="0">
              <a:buNone/>
            </a:pPr>
            <a:r>
              <a:rPr lang="en-US" sz="16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·  Teams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Docente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[DOCENTE]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5669280"/>
            <a:ext cx="632460" cy="384048"/>
          </a:xfrm>
          <a:prstGeom prst="homePlate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99248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T1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76844" y="5669280"/>
            <a:ext cx="632460" cy="384048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05444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64168" y="5669280"/>
            <a:ext cx="632460" cy="384048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92768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651492" y="5669280"/>
            <a:ext cx="632460" cy="384048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80092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T4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338816" y="5669280"/>
            <a:ext cx="632460" cy="384048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67416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1026140" y="5669280"/>
            <a:ext cx="632460" cy="384048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254740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89520" y="61081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A93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Recorrido · marca en amarillo el taller actual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AGENDA DE HOY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90 MINUTOS · CINCO MOMENTOS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174992" cy="502920"/>
          </a:xfrm>
          <a:prstGeom prst="homePlate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783080"/>
            <a:ext cx="176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0–10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59152"/>
            <a:ext cx="217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Repaso del reto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Qué salió, dos ejemplos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78496" y="1783080"/>
            <a:ext cx="2174992" cy="50292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07096" y="1783080"/>
            <a:ext cx="176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10–40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778496" y="2359152"/>
            <a:ext cx="217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Aplicación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Cada persona con su «Mi proceso»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08352" y="1783080"/>
            <a:ext cx="2174992" cy="50292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6952" y="1783080"/>
            <a:ext cx="176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40–70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08352" y="2359152"/>
            <a:ext cx="217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Casos compartidos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Tres o cuatro, con retroalimentación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238208" y="1783080"/>
            <a:ext cx="2174992" cy="50292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66808" y="1783080"/>
            <a:ext cx="176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70–80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238208" y="2359152"/>
            <a:ext cx="217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Evaluación corta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Diez preguntas en la plataforma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468063" y="1783080"/>
            <a:ext cx="2174992" cy="50292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96663" y="1783080"/>
            <a:ext cx="176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80–90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468063" y="2359152"/>
            <a:ext cx="217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Cierre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Puntos y siguiente taller</a:t>
            </a:r>
            <a:endParaRPr lang="en-US" sz="13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31920"/>
            <a:ext cx="548640" cy="54864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280160" y="39136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NECESITAS TENER A MANO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4224528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3D38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Tu formato «Mi proceso» con la tarea y la medición, y la herramienta abierta.</a:t>
            </a:r>
            <a:endParaRPr lang="en-US" sz="14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931920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23760" y="39136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 QUÉ SALES HOY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7223760" y="4224528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3D38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Una tarea tuya medida y una mejora propuesta. Eso es lo que cuenta el programa.</a:t>
            </a:r>
            <a:endParaRPr lang="en-US" sz="14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0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280160" y="50109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PUNTOS DE HOY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1280160" y="5321808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3D38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Asistencia: [PUNTOS ASISTENCIA]. «Mi proceso» entregado: [PUNTOS MI PROCESO]. Evaluación aprobada: [PUNTOS EVALUACIÓN].</a:t>
            </a:r>
            <a:endParaRPr lang="en-US" sz="14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5029200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223760" y="50109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GRABACIÓN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7223760" y="5321808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3D38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Queda en la plataforma al día siguiente.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SALIÓ DEL RETO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66928" y="1380744"/>
            <a:ext cx="201168" cy="256032"/>
          </a:xfrm>
          <a:prstGeom prst="chevron">
            <a:avLst/>
          </a:prstGeom>
          <a:solidFill>
            <a:srgbClr val="0D0D0C"/>
          </a:solidFill>
          <a:ln w="12700">
            <a:solidFill>
              <a:srgbClr val="0D0D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280160"/>
            <a:ext cx="7772400" cy="45720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280160"/>
            <a:ext cx="708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i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RETO [NÚMERO DEL RETO] · [TEXTO DEL RETO EN UNA FRASE]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16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[00]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44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personas lo entregaron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0116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[00 %]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9443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del grupo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760720" y="2011680"/>
            <a:ext cx="2804008" cy="3566160"/>
          </a:xfrm>
          <a:prstGeom prst="roundRect">
            <a:avLst>
              <a:gd name="adj" fmla="val 3587"/>
            </a:avLst>
          </a:prstGeom>
          <a:solidFill>
            <a:srgbClr val="161614"/>
          </a:solidFill>
          <a:ln w="15875">
            <a:solidFill>
              <a:srgbClr val="3D3D38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2286000"/>
            <a:ext cx="502920" cy="5029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675120" y="2286000"/>
            <a:ext cx="1615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[NOMBRE · ÁREA]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2971800"/>
            <a:ext cx="22553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7F7F5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[Qué hizo y qué le devolvió la herramienta. Dos o tres líneas. Si hay captura, va aquí en lugar del texto.]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839048" y="2011680"/>
            <a:ext cx="2804008" cy="3566160"/>
          </a:xfrm>
          <a:prstGeom prst="roundRect">
            <a:avLst>
              <a:gd name="adj" fmla="val 3587"/>
            </a:avLst>
          </a:prstGeom>
          <a:solidFill>
            <a:srgbClr val="161614"/>
          </a:solidFill>
          <a:ln w="15875">
            <a:solidFill>
              <a:srgbClr val="3D3D38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3368" y="228600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753448" y="2286000"/>
            <a:ext cx="1615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[NOMBRE · ÁREA]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113368" y="2971800"/>
            <a:ext cx="22553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7F7F5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[Qué hizo y qué le devolvió la herramienta. Dos o tres líneas. Si hay captura, va aquí en lugar del texto.]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20624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F7F7F5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[Una línea sobre lo que más se repitió en las evidencias.]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accent1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APLICACIÓN A TU TAREA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MINUTO 10 AL 40 · TRABAJO INDIVIDUAL CON «MI PROCESO»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749040" cy="4160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5875">
            <a:solidFill>
              <a:srgbClr val="DEDED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2011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HACES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9748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Abre tu formato «Mi proceso» en el campo 3, la mejora.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Prueba la mejora con la herramienta usando el prompt de apoyo.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Anota el nuevo tiempo o el nuevo resultado.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Deja listo tu caso para compartirlo en tres líneas.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26280" y="1691640"/>
            <a:ext cx="4480560" cy="4160520"/>
          </a:xfrm>
          <a:prstGeom prst="roundRect">
            <a:avLst>
              <a:gd name="adj" fmla="val 2418"/>
            </a:avLst>
          </a:prstGeom>
          <a:solidFill>
            <a:srgbClr val="0D0D0C"/>
          </a:solidFill>
          <a:ln w="12700">
            <a:solidFill>
              <a:srgbClr val="0D0D0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54880" y="1892808"/>
            <a:ext cx="2080260" cy="292608"/>
          </a:xfrm>
          <a:prstGeom prst="homePlate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28032" y="1892808"/>
            <a:ext cx="18516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PROMPT DE APOYO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2313432"/>
            <a:ext cx="40233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[PROMPT DE APOYO. Parte del prompt de la demostración, adaptado para que cada persona pegue su tarea.]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35440" y="1691640"/>
            <a:ext cx="2404872" cy="4160520"/>
          </a:xfrm>
          <a:prstGeom prst="roundRect">
            <a:avLst>
              <a:gd name="adj" fmla="val 4183"/>
            </a:avLst>
          </a:prstGeom>
          <a:solidFill>
            <a:srgbClr val="0D0D0C"/>
          </a:solidFill>
          <a:ln w="15875">
            <a:solidFill>
              <a:srgbClr val="0D0D0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011680"/>
            <a:ext cx="914400" cy="9144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235440" y="3017520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[30]</a:t>
            </a:r>
            <a:endParaRPr lang="en-US" sz="7200" dirty="0"/>
          </a:p>
        </p:txBody>
      </p:sp>
      <p:sp>
        <p:nvSpPr>
          <p:cNvPr id="16" name="Text 12"/>
          <p:cNvSpPr txBox="1"/>
          <p:nvPr/>
        </p:nvSpPr>
        <p:spPr>
          <a:xfrm>
            <a:off x="9235440" y="402336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3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MINUTOS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9464040" y="452628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El docente pasa por el chat y por los micrófonos abiertos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CASO COMPARTIDO [1 DE 4]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MINUTO 40 AL 70 · CADA CASO EN CINCO MINUTOS, CON RETROALIMENTACIÓN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931920" cy="4160520"/>
          </a:xfrm>
          <a:prstGeom prst="roundRect">
            <a:avLst>
              <a:gd name="adj" fmla="val 2558"/>
            </a:avLst>
          </a:prstGeom>
          <a:solidFill>
            <a:srgbClr val="F7F7F5"/>
          </a:solidFill>
          <a:ln w="15875">
            <a:solidFill>
              <a:srgbClr val="DEDED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640080" cy="640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[NOMBRE]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286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[Área · empresa]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28712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42416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TAREA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[Qué tarea, cada cuánto, para quién.]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22960" y="410565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42416" y="40690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MEJORA PROPUESTA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34340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[Qué parte apoya la IA y cómo.]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754880" y="1691640"/>
            <a:ext cx="3200400" cy="1965960"/>
          </a:xfrm>
          <a:prstGeom prst="roundRect">
            <a:avLst>
              <a:gd name="adj" fmla="val 5116"/>
            </a:avLst>
          </a:prstGeom>
          <a:solidFill>
            <a:srgbClr val="FFFFFF"/>
          </a:solidFill>
          <a:ln w="15875">
            <a:solidFill>
              <a:srgbClr val="DEDE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29200" y="19568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48656" y="19202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ANTES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0" y="2240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6564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[00 min]</a:t>
            </a:r>
            <a:endParaRPr lang="en-US" sz="4400" dirty="0"/>
          </a:p>
        </p:txBody>
      </p:sp>
      <p:sp>
        <p:nvSpPr>
          <p:cNvPr id="19" name="Text 16"/>
          <p:cNvSpPr txBox="1"/>
          <p:nvPr/>
        </p:nvSpPr>
        <p:spPr>
          <a:xfrm>
            <a:off x="5029200" y="3063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por vez · [veces] por semana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754880" y="3886200"/>
            <a:ext cx="3200400" cy="1965960"/>
          </a:xfrm>
          <a:prstGeom prst="roundRect">
            <a:avLst>
              <a:gd name="adj" fmla="val 5116"/>
            </a:avLst>
          </a:prstGeom>
          <a:solidFill>
            <a:srgbClr val="0D0D0C"/>
          </a:solidFill>
          <a:ln w="15875">
            <a:solidFill>
              <a:srgbClr val="0D0D0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29200" y="415137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248656" y="4114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DESPUÉS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0" y="44348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[00 min]</a:t>
            </a:r>
            <a:endParaRPr lang="en-US" sz="4400" dirty="0"/>
          </a:p>
        </p:txBody>
      </p:sp>
      <p:sp>
        <p:nvSpPr>
          <p:cNvPr id="24" name="Text 21"/>
          <p:cNvSpPr txBox="1"/>
          <p:nvPr/>
        </p:nvSpPr>
        <p:spPr>
          <a:xfrm>
            <a:off x="5029200" y="5257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por vez · [veces] por semana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247888" y="1792224"/>
            <a:ext cx="201168" cy="256032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503920" y="1691640"/>
            <a:ext cx="3139135" cy="457200"/>
          </a:xfrm>
          <a:prstGeom prst="chevron">
            <a:avLst/>
          </a:prstGeom>
          <a:solidFill>
            <a:srgbClr val="0D0D0C"/>
          </a:solidFill>
          <a:ln w="12700">
            <a:solidFill>
              <a:srgbClr val="0D0D0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823960" y="1691640"/>
            <a:ext cx="2453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RETROALIMENTACIÓN</a:t>
            </a:r>
            <a:endParaRPr lang="en-US" sz="180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377440"/>
            <a:ext cx="457200" cy="45720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8869680" y="2359152"/>
            <a:ext cx="27733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ESTÁ BIEN</a:t>
            </a:r>
            <a:endParaRPr lang="en-US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8869680" y="2670048"/>
            <a:ext cx="2773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3D38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[Una línea]</a:t>
            </a:r>
            <a:endParaRPr lang="en-US" sz="140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429000"/>
            <a:ext cx="457200" cy="45720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8869680" y="3410712"/>
            <a:ext cx="27733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HAY QUE REVISAR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8869680" y="3721608"/>
            <a:ext cx="2773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3D38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[Una línea: qué validar antes de usar la salida]</a:t>
            </a:r>
            <a:endParaRPr lang="en-US" sz="140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4480560"/>
            <a:ext cx="457200" cy="45720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8869680" y="4462272"/>
            <a:ext cx="27733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SIGUIENTE PASO</a:t>
            </a:r>
            <a:endParaRPr lang="en-US" sz="1600" dirty="0"/>
          </a:p>
        </p:txBody>
      </p:sp>
      <p:sp>
        <p:nvSpPr>
          <p:cNvPr id="36" name="Text 30"/>
          <p:cNvSpPr txBox="1"/>
          <p:nvPr/>
        </p:nvSpPr>
        <p:spPr>
          <a:xfrm>
            <a:off x="8869680" y="4773168"/>
            <a:ext cx="2773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3D38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[Una línea]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ANTES Y DESPUÉS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MIDIÓ EL GRUPO · MINUTOS POR TAREA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73152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138160" y="1691640"/>
            <a:ext cx="3502152" cy="4160520"/>
          </a:xfrm>
          <a:prstGeom prst="roundRect">
            <a:avLst>
              <a:gd name="adj" fmla="val 2872"/>
            </a:avLst>
          </a:prstGeom>
          <a:solidFill>
            <a:srgbClr val="0D0D0C"/>
          </a:solidFill>
          <a:ln w="15875">
            <a:solidFill>
              <a:srgbClr val="0D0D0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[00 %]</a:t>
            </a:r>
            <a:endParaRPr lang="en-US" sz="54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303580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menos tiempo, en promedio, en los casos compartidos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4206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F7F7F5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Cambia los datos del gráfico con clic derecho &gt; Editar datos. Los nombres de los casos van en la primera columna.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EVALUACIÓN CORTA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MINUTO 70 AL 80 · EN LA PLATAFORMA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700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preguntas de opción múltiple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1737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70 %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26700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para aprobar: siete de diez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17373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[PUNTOS]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26700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puntos al aprobar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749040"/>
            <a:ext cx="548640" cy="5486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80160" y="37307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DÓNDE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80160" y="404164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3D38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[Sección de la plataforma donde está la evaluación del taller [N].]</a:t>
            </a:r>
            <a:endParaRPr lang="en-US" sz="14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49040"/>
            <a:ext cx="548640" cy="54864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223760" y="373075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HASTA CUÁNDO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7223760" y="404164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3D38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Abre hoy y cierra el [FECHA LÍMITE EVALUACIÓN]. Si no apruebas, repasas la grabación y lo intentas de nuevo.</a:t>
            </a:r>
            <a:endParaRPr lang="en-US" sz="14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846320"/>
            <a:ext cx="548640" cy="5486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80160" y="482803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EVALÚA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1280160" y="513892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3D38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Lo que se vio en los dos encuentros: el concepto, cuándo aplicarlo y qué verificar antes de usar la salida.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SOLA PREGUNTA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tanto le recomendarías este taller a un compañero de tu área?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925456" cy="822960"/>
          </a:xfrm>
          <a:prstGeom prst="rect">
            <a:avLst/>
          </a:prstGeom>
          <a:solidFill>
            <a:srgbClr val="262623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017520"/>
            <a:ext cx="925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565536" y="3017520"/>
            <a:ext cx="925456" cy="822960"/>
          </a:xfrm>
          <a:prstGeom prst="rect">
            <a:avLst/>
          </a:prstGeom>
          <a:solidFill>
            <a:srgbClr val="262623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65536" y="3017520"/>
            <a:ext cx="925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582432" y="3017520"/>
            <a:ext cx="925456" cy="822960"/>
          </a:xfrm>
          <a:prstGeom prst="rect">
            <a:avLst/>
          </a:prstGeom>
          <a:solidFill>
            <a:srgbClr val="262623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82432" y="3017520"/>
            <a:ext cx="925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3599328" y="3017520"/>
            <a:ext cx="925456" cy="822960"/>
          </a:xfrm>
          <a:prstGeom prst="rect">
            <a:avLst/>
          </a:prstGeom>
          <a:solidFill>
            <a:srgbClr val="262623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99328" y="3017520"/>
            <a:ext cx="925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4616224" y="3017520"/>
            <a:ext cx="925456" cy="822960"/>
          </a:xfrm>
          <a:prstGeom prst="rect">
            <a:avLst/>
          </a:prstGeom>
          <a:solidFill>
            <a:srgbClr val="262623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6224" y="3017520"/>
            <a:ext cx="925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5633120" y="3017520"/>
            <a:ext cx="925456" cy="822960"/>
          </a:xfrm>
          <a:prstGeom prst="rect">
            <a:avLst/>
          </a:prstGeom>
          <a:solidFill>
            <a:srgbClr val="262623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33120" y="3017520"/>
            <a:ext cx="925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6650016" y="3017520"/>
            <a:ext cx="925456" cy="822960"/>
          </a:xfrm>
          <a:prstGeom prst="rect">
            <a:avLst/>
          </a:prstGeom>
          <a:solidFill>
            <a:srgbClr val="262623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50016" y="3017520"/>
            <a:ext cx="925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7666911" y="3017520"/>
            <a:ext cx="925456" cy="822960"/>
          </a:xfrm>
          <a:prstGeom prst="rect">
            <a:avLst/>
          </a:prstGeom>
          <a:solidFill>
            <a:srgbClr val="262623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666911" y="3017520"/>
            <a:ext cx="925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8683807" y="3017520"/>
            <a:ext cx="925456" cy="822960"/>
          </a:xfrm>
          <a:prstGeom prst="rect">
            <a:avLst/>
          </a:prstGeom>
          <a:solidFill>
            <a:srgbClr val="262623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3807" y="3017520"/>
            <a:ext cx="925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8</a:t>
            </a:r>
            <a:endParaRPr lang="en-US" sz="2800" dirty="0"/>
          </a:p>
        </p:txBody>
      </p:sp>
      <p:sp>
        <p:nvSpPr>
          <p:cNvPr id="22" name="Shape 20"/>
          <p:cNvSpPr/>
          <p:nvPr/>
        </p:nvSpPr>
        <p:spPr>
          <a:xfrm>
            <a:off x="9700703" y="3017520"/>
            <a:ext cx="925456" cy="822960"/>
          </a:xfrm>
          <a:prstGeom prst="rect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700703" y="3017520"/>
            <a:ext cx="925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10717599" y="3017520"/>
            <a:ext cx="925456" cy="822960"/>
          </a:xfrm>
          <a:prstGeom prst="rect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717599" y="3017520"/>
            <a:ext cx="925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Nada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14255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Totalmente</a:t>
            </a:r>
            <a:endParaRPr lang="en-US" sz="130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0"/>
            <a:ext cx="548640" cy="54864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280160" y="455371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RESPONDE EN EL CHAT O EN LA ENCUESTA DE TEAMS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280160" y="4864608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Un número del 0 al 10. Toma diez segundos. La meta del programa es 8 o más.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accent1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SUMÓ ESTE TALLER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DEL MANUAL DE PUNTAJES Y RECONOCIMIENTO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10512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7373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ENCUENTRO 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17373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[PUNTOS]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48640" y="2450592"/>
            <a:ext cx="6035040" cy="0"/>
          </a:xfrm>
          <a:prstGeom prst="line">
            <a:avLst/>
          </a:prstGeom>
          <a:noFill/>
          <a:ln w="9525">
            <a:solidFill>
              <a:srgbClr val="DEDED9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87752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5146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ENCUENTRO 2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4937760" y="2514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[PUNTOS]</a:t>
            </a:r>
            <a:endParaRPr lang="en-US" sz="2400" dirty="0"/>
          </a:p>
        </p:txBody>
      </p:sp>
      <p:sp>
        <p:nvSpPr>
          <p:cNvPr id="12" name="Shape 8"/>
          <p:cNvSpPr/>
          <p:nvPr/>
        </p:nvSpPr>
        <p:spPr>
          <a:xfrm>
            <a:off x="548640" y="3227832"/>
            <a:ext cx="6035040" cy="0"/>
          </a:xfrm>
          <a:prstGeom prst="line">
            <a:avLst/>
          </a:prstGeom>
          <a:noFill/>
          <a:ln w="9525">
            <a:solidFill>
              <a:srgbClr val="DEDED9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64992"/>
            <a:ext cx="502920" cy="5029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32918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RETOS DE LA SEMANA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4937760" y="3291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[PUNTOS] × 4</a:t>
            </a:r>
            <a:endParaRPr lang="en-US" sz="2400" dirty="0"/>
          </a:p>
        </p:txBody>
      </p:sp>
      <p:sp>
        <p:nvSpPr>
          <p:cNvPr id="16" name="Shape 11"/>
          <p:cNvSpPr/>
          <p:nvPr/>
        </p:nvSpPr>
        <p:spPr>
          <a:xfrm>
            <a:off x="548640" y="4005072"/>
            <a:ext cx="6035040" cy="0"/>
          </a:xfrm>
          <a:prstGeom prst="line">
            <a:avLst/>
          </a:prstGeom>
          <a:noFill/>
          <a:ln w="9525">
            <a:solidFill>
              <a:srgbClr val="DEDED9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42232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69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«MI PROCESO» ENTREGADO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4937760" y="40690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[PUNTOS]</a:t>
            </a:r>
            <a:endParaRPr lang="en-US" sz="2400" dirty="0"/>
          </a:p>
        </p:txBody>
      </p:sp>
      <p:sp>
        <p:nvSpPr>
          <p:cNvPr id="20" name="Shape 14"/>
          <p:cNvSpPr/>
          <p:nvPr/>
        </p:nvSpPr>
        <p:spPr>
          <a:xfrm>
            <a:off x="548640" y="4782312"/>
            <a:ext cx="6035040" cy="0"/>
          </a:xfrm>
          <a:prstGeom prst="line">
            <a:avLst/>
          </a:prstGeom>
          <a:noFill/>
          <a:ln w="9525">
            <a:solidFill>
              <a:srgbClr val="DEDED9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919472"/>
            <a:ext cx="502920" cy="5029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48463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EVALUACIÓN APROBADA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4937760" y="4846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[PUNTOS]</a:t>
            </a:r>
            <a:endParaRPr lang="en-US" sz="2400" dirty="0"/>
          </a:p>
        </p:txBody>
      </p:sp>
      <p:sp>
        <p:nvSpPr>
          <p:cNvPr id="24" name="Shape 17"/>
          <p:cNvSpPr/>
          <p:nvPr/>
        </p:nvSpPr>
        <p:spPr>
          <a:xfrm>
            <a:off x="7315200" y="1737360"/>
            <a:ext cx="4325112" cy="3840480"/>
          </a:xfrm>
          <a:prstGeom prst="roundRect">
            <a:avLst>
              <a:gd name="adj" fmla="val 2619"/>
            </a:avLst>
          </a:prstGeom>
          <a:solidFill>
            <a:srgbClr val="0D0D0C"/>
          </a:solidFill>
          <a:ln w="15875">
            <a:solidFill>
              <a:srgbClr val="0D0D0C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0" y="2057400"/>
            <a:ext cx="731520" cy="7315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635240" y="2834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[000]</a:t>
            </a:r>
            <a:endParaRPr lang="en-US" sz="6000" dirty="0"/>
          </a:p>
        </p:txBody>
      </p:sp>
      <p:sp>
        <p:nvSpPr>
          <p:cNvPr id="27" name="Text 19"/>
          <p:cNvSpPr txBox="1"/>
          <p:nvPr/>
        </p:nvSpPr>
        <p:spPr>
          <a:xfrm>
            <a:off x="7635240" y="37673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puntos posibles en el taller [N]</a:t>
            </a:r>
            <a:endParaRPr lang="en-US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7635240" y="44348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7F7F5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Tu acumulado y tu puesto están en la plataforma. Los premios los define Gestión Humana.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PRÓXIMO TALLER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TALLER [N+1] DE 6 · [MES]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[NOMBRE DEL SIGUIENTE TALLER]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[CONCEPTO DEL SIGUIENTE MES]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6616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F7F7F5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[Dos líneas: qué va a poder hacer la persona al terminar ese taller.]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498080" y="1737360"/>
            <a:ext cx="1344168" cy="502920"/>
          </a:xfrm>
          <a:prstGeom prst="homePlate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07808" y="173736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[FECHA E1]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313432"/>
            <a:ext cx="134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Encuentro 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97112" y="1737360"/>
            <a:ext cx="1344168" cy="502920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173736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[FECHA C]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2313432"/>
            <a:ext cx="134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Consultorio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296144" y="1737360"/>
            <a:ext cx="1344168" cy="502920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24744" y="173736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[FECHA E2]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96144" y="2313432"/>
            <a:ext cx="134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Encuentro 2</a:t>
            </a:r>
            <a:endParaRPr lang="en-US" sz="12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3108960"/>
            <a:ext cx="548640" cy="5486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229600" y="3090672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INVITACIÓN LLEGA UN MES ANTES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0" y="3401568"/>
            <a:ext cx="3410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Por Outlook desde Gestión Humana. Si no la ves, escríbele a tu líder.</a:t>
            </a:r>
            <a:endParaRPr lang="en-US" sz="13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297680"/>
            <a:ext cx="548640" cy="54864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229600" y="4279392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MIENTRAS TANTO, EL RETO DEL JUEVES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8229600" y="4590288"/>
            <a:ext cx="3410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Cada jueves a las 7:00 a. m. Cuatro retos refuerzan lo que viste hoy.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accent1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98525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SUPER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547165" y="550469"/>
            <a:ext cx="1474013" cy="380390"/>
          </a:xfrm>
          <a:prstGeom prst="rect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602029" y="502920"/>
            <a:ext cx="1474013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HUMANOS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Gracias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Taller [N] completo. Sigue el reto del jueves.</a:t>
            </a:r>
            <a:endParaRPr lang="en-US" sz="30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2976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427939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SUPERHUMANOS@GYJ.COM.CO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4590288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Dudas, sugerencias y evidencias que no cargaron. Respuesta cada semana, a más tardar el viernes.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589520" y="5669280"/>
            <a:ext cx="632460" cy="384048"/>
          </a:xfrm>
          <a:prstGeom prst="homePlate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99248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T1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76844" y="5669280"/>
            <a:ext cx="632460" cy="384048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05444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64168" y="5669280"/>
            <a:ext cx="632460" cy="384048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92768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T3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651492" y="5669280"/>
            <a:ext cx="632460" cy="384048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880092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T4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338816" y="5669280"/>
            <a:ext cx="632460" cy="384048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567416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T5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1026140" y="5669280"/>
            <a:ext cx="632460" cy="384048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1254740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GUÍA DE USO DE ESTA PLANTILLA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NOMBRE DEL ARCHIVO · SH_[PERFIL]_T[N]_E2_[AAAAMMDD]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7607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8404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CC800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Marcador</a:t>
                      </a:r>
                      <a:endParaRPr lang="en-US" sz="13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CC800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Qué va ahí</a:t>
                      </a:r>
                      <a:endParaRPr lang="en-US" sz="13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[PERFIL]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COM o ADM en el nombre del archivo; Comercial o Administrativo en el texto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[N]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Número del taller, 1 a 6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[NOMBRE DEL TALLER]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Del temario detallado, tal como está escrito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[CONCEPTO DEL MES]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El concepto de IA del mes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[NÚMERO DEL RETO] [TEXTO DEL RETO]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Del calendario de los 28 retos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[NOMBRE] [ÁREA]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Casos compartidos: con permiso de la persona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[FECHA …]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Con día de la semana: «viernes 16 de octubre»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[PUNTOS …]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Del manual de puntajes y reconocimiento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[N+1] [MES]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Siguiente taller y su mes, del cronograma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647688" y="1700784"/>
            <a:ext cx="201168" cy="256032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903720" y="1600200"/>
            <a:ext cx="4663440" cy="457200"/>
          </a:xfrm>
          <a:prstGeom prst="chevron">
            <a:avLst/>
          </a:prstGeom>
          <a:solidFill>
            <a:srgbClr val="0D0D0C"/>
          </a:solidFill>
          <a:ln w="12700">
            <a:solidFill>
              <a:srgbClr val="0D0D0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23760" y="160020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REGLAS QUE NO CAMBIAN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675120" y="2286000"/>
            <a:ext cx="4937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Titulares en Barlow Condensed y en mayúsculas. Cuerpo en Atkinson Hyperlegible Next, en tipo oración.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Negro #0D0D0C y amarillo #FCC800. Sobre amarillo el texto va en negro. El amarillo como texto solo va sobre negro. Sobre blanco, el acento de texto es #8A6B00.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La tarjeta de caso se duplica por cada caso: tres o cuatro por encuentro.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El gráfico de antes y después es nativo: clic derecho &gt; Editar datos.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Sin logos de las empresas: la pieza sirve igual en las cinco compañías.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Pie de página: edítalo una sola vez en Vista &gt; Patrón de diapositivas.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Si falta una fuente, PowerPoint usa Arial Narrow y Arial. Instala las dos fuentes antes de presentar.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Esta diapositiva y la biblioteca de íconos se borran antes de presentar.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BIBLIOTECA DE ÍCONOS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COPIA Y PEGA EL ÍCONO EN LA DIAPOSITIVA QUE LO NECESITE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468" y="1691640"/>
            <a:ext cx="566928" cy="566928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188" y="2304288"/>
            <a:ext cx="256032" cy="256032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652" y="2304288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chevron-right</a:t>
            </a:r>
            <a:endParaRPr lang="en-US" sz="9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51" y="1691640"/>
            <a:ext cx="566928" cy="566928"/>
          </a:xfrm>
          <a:prstGeom prst="rect">
            <a:avLst/>
          </a:prstGeom>
        </p:spPr>
      </p:pic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3771" y="2304288"/>
            <a:ext cx="256032" cy="256032"/>
          </a:xfrm>
          <a:prstGeom prst="rect">
            <a:avLst/>
          </a:prstGeom>
        </p:spPr>
      </p:pic>
      <p:pic>
        <p:nvPicPr>
          <p:cNvPr id="1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7235" y="2304288"/>
            <a:ext cx="256032" cy="256032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1557223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chevron-left</a:t>
            </a:r>
            <a:endParaRPr lang="en-US" sz="900" dirty="0"/>
          </a:p>
        </p:txBody>
      </p:sp>
      <p:pic>
        <p:nvPicPr>
          <p:cNvPr id="1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6634" y="1691640"/>
            <a:ext cx="566928" cy="566928"/>
          </a:xfrm>
          <a:prstGeom prst="rect">
            <a:avLst/>
          </a:prstGeom>
        </p:spPr>
      </p:pic>
      <p:pic>
        <p:nvPicPr>
          <p:cNvPr id="1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32354" y="2304288"/>
            <a:ext cx="256032" cy="256032"/>
          </a:xfrm>
          <a:prstGeom prst="rect">
            <a:avLst/>
          </a:prstGeom>
        </p:spPr>
      </p:pic>
      <p:pic>
        <p:nvPicPr>
          <p:cNvPr id="1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15818" y="2304288"/>
            <a:ext cx="256032" cy="256032"/>
          </a:xfrm>
          <a:prstGeom prst="rect">
            <a:avLst/>
          </a:prstGeom>
        </p:spPr>
      </p:pic>
      <p:sp>
        <p:nvSpPr>
          <p:cNvPr id="16" name="Text 5"/>
          <p:cNvSpPr txBox="1"/>
          <p:nvPr/>
        </p:nvSpPr>
        <p:spPr>
          <a:xfrm>
            <a:off x="2565806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chevrons-up</a:t>
            </a:r>
            <a:endParaRPr lang="en-US" sz="900" dirty="0"/>
          </a:p>
        </p:txBody>
      </p:sp>
      <p:pic>
        <p:nvPicPr>
          <p:cNvPr id="1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95217" y="1691640"/>
            <a:ext cx="566928" cy="566928"/>
          </a:xfrm>
          <a:prstGeom prst="rect">
            <a:avLst/>
          </a:prstGeom>
        </p:spPr>
      </p:pic>
      <p:pic>
        <p:nvPicPr>
          <p:cNvPr id="1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40937" y="2304288"/>
            <a:ext cx="256032" cy="256032"/>
          </a:xfrm>
          <a:prstGeom prst="rect">
            <a:avLst/>
          </a:prstGeom>
        </p:spPr>
      </p:pic>
      <p:pic>
        <p:nvPicPr>
          <p:cNvPr id="1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24401" y="2304288"/>
            <a:ext cx="256032" cy="256032"/>
          </a:xfrm>
          <a:prstGeom prst="rect">
            <a:avLst/>
          </a:prstGeom>
        </p:spPr>
      </p:pic>
      <p:sp>
        <p:nvSpPr>
          <p:cNvPr id="20" name="Text 6"/>
          <p:cNvSpPr txBox="1"/>
          <p:nvPr/>
        </p:nvSpPr>
        <p:spPr>
          <a:xfrm>
            <a:off x="3574390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play</a:t>
            </a:r>
            <a:endParaRPr lang="en-US" sz="900" dirty="0"/>
          </a:p>
        </p:txBody>
      </p:sp>
      <p:pic>
        <p:nvPicPr>
          <p:cNvPr id="21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03800" y="1691640"/>
            <a:ext cx="566928" cy="566928"/>
          </a:xfrm>
          <a:prstGeom prst="rect">
            <a:avLst/>
          </a:prstGeom>
        </p:spPr>
      </p:pic>
      <p:pic>
        <p:nvPicPr>
          <p:cNvPr id="22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49520" y="2304288"/>
            <a:ext cx="256032" cy="256032"/>
          </a:xfrm>
          <a:prstGeom prst="rect">
            <a:avLst/>
          </a:prstGeom>
        </p:spPr>
      </p:pic>
      <p:pic>
        <p:nvPicPr>
          <p:cNvPr id="2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32984" y="2304288"/>
            <a:ext cx="256032" cy="256032"/>
          </a:xfrm>
          <a:prstGeom prst="rect">
            <a:avLst/>
          </a:prstGeom>
        </p:spPr>
      </p:pic>
      <p:sp>
        <p:nvSpPr>
          <p:cNvPr id="24" name="Text 7"/>
          <p:cNvSpPr txBox="1"/>
          <p:nvPr/>
        </p:nvSpPr>
        <p:spPr>
          <a:xfrm>
            <a:off x="4582973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live</a:t>
            </a:r>
            <a:endParaRPr lang="en-US" sz="900" dirty="0"/>
          </a:p>
        </p:txBody>
      </p:sp>
      <p:pic>
        <p:nvPicPr>
          <p:cNvPr id="2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12384" y="1691640"/>
            <a:ext cx="566928" cy="566928"/>
          </a:xfrm>
          <a:prstGeom prst="rect">
            <a:avLst/>
          </a:prstGeom>
        </p:spPr>
      </p:pic>
      <p:pic>
        <p:nvPicPr>
          <p:cNvPr id="26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858104" y="2304288"/>
            <a:ext cx="256032" cy="256032"/>
          </a:xfrm>
          <a:prstGeom prst="rect">
            <a:avLst/>
          </a:prstGeom>
        </p:spPr>
      </p:pic>
      <p:pic>
        <p:nvPicPr>
          <p:cNvPr id="2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41568" y="2304288"/>
            <a:ext cx="256032" cy="256032"/>
          </a:xfrm>
          <a:prstGeom prst="rect">
            <a:avLst/>
          </a:prstGeom>
        </p:spPr>
      </p:pic>
      <p:sp>
        <p:nvSpPr>
          <p:cNvPr id="28" name="Text 8"/>
          <p:cNvSpPr txBox="1"/>
          <p:nvPr/>
        </p:nvSpPr>
        <p:spPr>
          <a:xfrm>
            <a:off x="5591556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camera</a:t>
            </a:r>
            <a:endParaRPr lang="en-US" sz="900" dirty="0"/>
          </a:p>
        </p:txBody>
      </p:sp>
      <p:pic>
        <p:nvPicPr>
          <p:cNvPr id="29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20967" y="1691640"/>
            <a:ext cx="566928" cy="566928"/>
          </a:xfrm>
          <a:prstGeom prst="rect">
            <a:avLst/>
          </a:prstGeom>
        </p:spPr>
      </p:pic>
      <p:pic>
        <p:nvPicPr>
          <p:cNvPr id="30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66687" y="2304288"/>
            <a:ext cx="256032" cy="256032"/>
          </a:xfrm>
          <a:prstGeom prst="rect">
            <a:avLst/>
          </a:prstGeom>
        </p:spPr>
      </p:pic>
      <p:pic>
        <p:nvPicPr>
          <p:cNvPr id="31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150151" y="2304288"/>
            <a:ext cx="256032" cy="256032"/>
          </a:xfrm>
          <a:prstGeom prst="rect">
            <a:avLst/>
          </a:prstGeom>
        </p:spPr>
      </p:pic>
      <p:sp>
        <p:nvSpPr>
          <p:cNvPr id="32" name="Text 9"/>
          <p:cNvSpPr txBox="1"/>
          <p:nvPr/>
        </p:nvSpPr>
        <p:spPr>
          <a:xfrm>
            <a:off x="6600139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upload</a:t>
            </a:r>
            <a:endParaRPr lang="en-US" sz="900" dirty="0"/>
          </a:p>
        </p:txBody>
      </p:sp>
      <p:pic>
        <p:nvPicPr>
          <p:cNvPr id="33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829550" y="1691640"/>
            <a:ext cx="566928" cy="566928"/>
          </a:xfrm>
          <a:prstGeom prst="rect">
            <a:avLst/>
          </a:prstGeom>
        </p:spPr>
      </p:pic>
      <p:pic>
        <p:nvPicPr>
          <p:cNvPr id="34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875270" y="2304288"/>
            <a:ext cx="256032" cy="256032"/>
          </a:xfrm>
          <a:prstGeom prst="rect">
            <a:avLst/>
          </a:prstGeom>
        </p:spPr>
      </p:pic>
      <p:pic>
        <p:nvPicPr>
          <p:cNvPr id="35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158734" y="2304288"/>
            <a:ext cx="256032" cy="256032"/>
          </a:xfrm>
          <a:prstGeom prst="rect">
            <a:avLst/>
          </a:prstGeom>
        </p:spPr>
      </p:pic>
      <p:sp>
        <p:nvSpPr>
          <p:cNvPr id="36" name="Text 10"/>
          <p:cNvSpPr txBox="1"/>
          <p:nvPr/>
        </p:nvSpPr>
        <p:spPr>
          <a:xfrm>
            <a:off x="7608722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check</a:t>
            </a:r>
            <a:endParaRPr lang="en-US" sz="900" dirty="0"/>
          </a:p>
        </p:txBody>
      </p:sp>
      <p:pic>
        <p:nvPicPr>
          <p:cNvPr id="37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838133" y="1691640"/>
            <a:ext cx="566928" cy="566928"/>
          </a:xfrm>
          <a:prstGeom prst="rect">
            <a:avLst/>
          </a:prstGeom>
        </p:spPr>
      </p:pic>
      <p:pic>
        <p:nvPicPr>
          <p:cNvPr id="38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883853" y="2304288"/>
            <a:ext cx="256032" cy="256032"/>
          </a:xfrm>
          <a:prstGeom prst="rect">
            <a:avLst/>
          </a:prstGeom>
        </p:spPr>
      </p:pic>
      <p:pic>
        <p:nvPicPr>
          <p:cNvPr id="39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167317" y="2304288"/>
            <a:ext cx="256032" cy="256032"/>
          </a:xfrm>
          <a:prstGeom prst="rect">
            <a:avLst/>
          </a:prstGeom>
        </p:spPr>
      </p:pic>
      <p:sp>
        <p:nvSpPr>
          <p:cNvPr id="40" name="Text 11"/>
          <p:cNvSpPr txBox="1"/>
          <p:nvPr/>
        </p:nvSpPr>
        <p:spPr>
          <a:xfrm>
            <a:off x="8617306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clock</a:t>
            </a:r>
            <a:endParaRPr lang="en-US" sz="900" dirty="0"/>
          </a:p>
        </p:txBody>
      </p:sp>
      <p:pic>
        <p:nvPicPr>
          <p:cNvPr id="41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846716" y="1691640"/>
            <a:ext cx="566928" cy="566928"/>
          </a:xfrm>
          <a:prstGeom prst="rect">
            <a:avLst/>
          </a:prstGeom>
        </p:spPr>
      </p:pic>
      <p:pic>
        <p:nvPicPr>
          <p:cNvPr id="42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892436" y="2304288"/>
            <a:ext cx="256032" cy="256032"/>
          </a:xfrm>
          <a:prstGeom prst="rect">
            <a:avLst/>
          </a:prstGeom>
        </p:spPr>
      </p:pic>
      <p:pic>
        <p:nvPicPr>
          <p:cNvPr id="43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175900" y="2304288"/>
            <a:ext cx="256032" cy="256032"/>
          </a:xfrm>
          <a:prstGeom prst="rect">
            <a:avLst/>
          </a:prstGeom>
        </p:spPr>
      </p:pic>
      <p:sp>
        <p:nvSpPr>
          <p:cNvPr id="44" name="Text 12"/>
          <p:cNvSpPr txBox="1"/>
          <p:nvPr/>
        </p:nvSpPr>
        <p:spPr>
          <a:xfrm>
            <a:off x="9625889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calendar</a:t>
            </a:r>
            <a:endParaRPr lang="en-US" sz="900" dirty="0"/>
          </a:p>
        </p:txBody>
      </p:sp>
      <p:pic>
        <p:nvPicPr>
          <p:cNvPr id="45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855300" y="1691640"/>
            <a:ext cx="566928" cy="566928"/>
          </a:xfrm>
          <a:prstGeom prst="rect">
            <a:avLst/>
          </a:prstGeom>
        </p:spPr>
      </p:pic>
      <p:pic>
        <p:nvPicPr>
          <p:cNvPr id="46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0901020" y="2304288"/>
            <a:ext cx="256032" cy="256032"/>
          </a:xfrm>
          <a:prstGeom prst="rect">
            <a:avLst/>
          </a:prstGeom>
        </p:spPr>
      </p:pic>
      <p:pic>
        <p:nvPicPr>
          <p:cNvPr id="47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1184484" y="2304288"/>
            <a:ext cx="256032" cy="256032"/>
          </a:xfrm>
          <a:prstGeom prst="rect">
            <a:avLst/>
          </a:prstGeom>
        </p:spPr>
      </p:pic>
      <p:sp>
        <p:nvSpPr>
          <p:cNvPr id="48" name="Text 13"/>
          <p:cNvSpPr txBox="1"/>
          <p:nvPr/>
        </p:nvSpPr>
        <p:spPr>
          <a:xfrm>
            <a:off x="10634472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star</a:t>
            </a:r>
            <a:endParaRPr lang="en-US" sz="900" dirty="0"/>
          </a:p>
        </p:txBody>
      </p:sp>
      <p:pic>
        <p:nvPicPr>
          <p:cNvPr id="49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69468" y="3108960"/>
            <a:ext cx="566928" cy="566928"/>
          </a:xfrm>
          <a:prstGeom prst="rect">
            <a:avLst/>
          </a:prstGeom>
        </p:spPr>
      </p:pic>
      <p:pic>
        <p:nvPicPr>
          <p:cNvPr id="50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15188" y="3721608"/>
            <a:ext cx="256032" cy="256032"/>
          </a:xfrm>
          <a:prstGeom prst="rect">
            <a:avLst/>
          </a:prstGeom>
        </p:spPr>
      </p:pic>
      <p:pic>
        <p:nvPicPr>
          <p:cNvPr id="51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98652" y="3721608"/>
            <a:ext cx="256032" cy="256032"/>
          </a:xfrm>
          <a:prstGeom prst="rect">
            <a:avLst/>
          </a:prstGeom>
        </p:spPr>
      </p:pic>
      <p:sp>
        <p:nvSpPr>
          <p:cNvPr id="52" name="Text 14"/>
          <p:cNvSpPr txBox="1"/>
          <p:nvPr/>
        </p:nvSpPr>
        <p:spPr>
          <a:xfrm>
            <a:off x="548640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trophy</a:t>
            </a:r>
            <a:endParaRPr lang="en-US" sz="900" dirty="0"/>
          </a:p>
        </p:txBody>
      </p:sp>
      <p:pic>
        <p:nvPicPr>
          <p:cNvPr id="53" name="Image 36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778051" y="3108960"/>
            <a:ext cx="566928" cy="566928"/>
          </a:xfrm>
          <a:prstGeom prst="rect">
            <a:avLst/>
          </a:prstGeom>
        </p:spPr>
      </p:pic>
      <p:pic>
        <p:nvPicPr>
          <p:cNvPr id="54" name="Image 37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823771" y="3721608"/>
            <a:ext cx="256032" cy="256032"/>
          </a:xfrm>
          <a:prstGeom prst="rect">
            <a:avLst/>
          </a:prstGeom>
        </p:spPr>
      </p:pic>
      <p:pic>
        <p:nvPicPr>
          <p:cNvPr id="55" name="Image 38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2107235" y="3721608"/>
            <a:ext cx="256032" cy="256032"/>
          </a:xfrm>
          <a:prstGeom prst="rect">
            <a:avLst/>
          </a:prstGeom>
        </p:spPr>
      </p:pic>
      <p:sp>
        <p:nvSpPr>
          <p:cNvPr id="56" name="Text 15"/>
          <p:cNvSpPr txBox="1"/>
          <p:nvPr/>
        </p:nvSpPr>
        <p:spPr>
          <a:xfrm>
            <a:off x="1557223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home</a:t>
            </a:r>
            <a:endParaRPr lang="en-US" sz="900" dirty="0"/>
          </a:p>
        </p:txBody>
      </p:sp>
      <p:pic>
        <p:nvPicPr>
          <p:cNvPr id="57" name="Image 39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2786634" y="3108960"/>
            <a:ext cx="566928" cy="566928"/>
          </a:xfrm>
          <a:prstGeom prst="rect">
            <a:avLst/>
          </a:prstGeom>
        </p:spPr>
      </p:pic>
      <p:pic>
        <p:nvPicPr>
          <p:cNvPr id="58" name="Image 40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2832354" y="3721608"/>
            <a:ext cx="256032" cy="256032"/>
          </a:xfrm>
          <a:prstGeom prst="rect">
            <a:avLst/>
          </a:prstGeom>
        </p:spPr>
      </p:pic>
      <p:pic>
        <p:nvPicPr>
          <p:cNvPr id="59" name="Image 41" descr="preencoded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3115818" y="3721608"/>
            <a:ext cx="256032" cy="256032"/>
          </a:xfrm>
          <a:prstGeom prst="rect">
            <a:avLst/>
          </a:prstGeom>
        </p:spPr>
      </p:pic>
      <p:sp>
        <p:nvSpPr>
          <p:cNvPr id="60" name="Text 16"/>
          <p:cNvSpPr txBox="1"/>
          <p:nvPr/>
        </p:nvSpPr>
        <p:spPr>
          <a:xfrm>
            <a:off x="2565806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route</a:t>
            </a:r>
            <a:endParaRPr lang="en-US" sz="900" dirty="0"/>
          </a:p>
        </p:txBody>
      </p:sp>
      <p:pic>
        <p:nvPicPr>
          <p:cNvPr id="61" name="Image 42" descr="preencoded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795217" y="3108960"/>
            <a:ext cx="566928" cy="566928"/>
          </a:xfrm>
          <a:prstGeom prst="rect">
            <a:avLst/>
          </a:prstGeom>
        </p:spPr>
      </p:pic>
      <p:pic>
        <p:nvPicPr>
          <p:cNvPr id="62" name="Image 43" descr="preencoded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840937" y="3721608"/>
            <a:ext cx="256032" cy="256032"/>
          </a:xfrm>
          <a:prstGeom prst="rect">
            <a:avLst/>
          </a:prstGeom>
        </p:spPr>
      </p:pic>
      <p:pic>
        <p:nvPicPr>
          <p:cNvPr id="63" name="Image 44" descr="preencoded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124401" y="3721608"/>
            <a:ext cx="256032" cy="256032"/>
          </a:xfrm>
          <a:prstGeom prst="rect">
            <a:avLst/>
          </a:prstGeom>
        </p:spPr>
      </p:pic>
      <p:sp>
        <p:nvSpPr>
          <p:cNvPr id="64" name="Text 17"/>
          <p:cNvSpPr txBox="1"/>
          <p:nvPr/>
        </p:nvSpPr>
        <p:spPr>
          <a:xfrm>
            <a:off x="3574390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user</a:t>
            </a:r>
            <a:endParaRPr lang="en-US" sz="900" dirty="0"/>
          </a:p>
        </p:txBody>
      </p:sp>
      <p:pic>
        <p:nvPicPr>
          <p:cNvPr id="65" name="Image 45" descr="preencoded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803800" y="3108960"/>
            <a:ext cx="566928" cy="566928"/>
          </a:xfrm>
          <a:prstGeom prst="rect">
            <a:avLst/>
          </a:prstGeom>
        </p:spPr>
      </p:pic>
      <p:pic>
        <p:nvPicPr>
          <p:cNvPr id="66" name="Image 46" descr="preencoded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849520" y="3721608"/>
            <a:ext cx="256032" cy="256032"/>
          </a:xfrm>
          <a:prstGeom prst="rect">
            <a:avLst/>
          </a:prstGeom>
        </p:spPr>
      </p:pic>
      <p:pic>
        <p:nvPicPr>
          <p:cNvPr id="67" name="Image 47" descr="preencoded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132984" y="3721608"/>
            <a:ext cx="256032" cy="256032"/>
          </a:xfrm>
          <a:prstGeom prst="rect">
            <a:avLst/>
          </a:prstGeom>
        </p:spPr>
      </p:pic>
      <p:sp>
        <p:nvSpPr>
          <p:cNvPr id="68" name="Text 18"/>
          <p:cNvSpPr txBox="1"/>
          <p:nvPr/>
        </p:nvSpPr>
        <p:spPr>
          <a:xfrm>
            <a:off x="4582973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users</a:t>
            </a:r>
            <a:endParaRPr lang="en-US" sz="900" dirty="0"/>
          </a:p>
        </p:txBody>
      </p:sp>
      <p:pic>
        <p:nvPicPr>
          <p:cNvPr id="69" name="Image 48" descr="preencoded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5812384" y="3108960"/>
            <a:ext cx="566928" cy="566928"/>
          </a:xfrm>
          <a:prstGeom prst="rect">
            <a:avLst/>
          </a:prstGeom>
        </p:spPr>
      </p:pic>
      <p:pic>
        <p:nvPicPr>
          <p:cNvPr id="70" name="Image 49" descr="preencoded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858104" y="3721608"/>
            <a:ext cx="256032" cy="256032"/>
          </a:xfrm>
          <a:prstGeom prst="rect">
            <a:avLst/>
          </a:prstGeom>
        </p:spPr>
      </p:pic>
      <p:pic>
        <p:nvPicPr>
          <p:cNvPr id="71" name="Image 50" descr="preencoded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6141568" y="3721608"/>
            <a:ext cx="256032" cy="256032"/>
          </a:xfrm>
          <a:prstGeom prst="rect">
            <a:avLst/>
          </a:prstGeom>
        </p:spPr>
      </p:pic>
      <p:sp>
        <p:nvSpPr>
          <p:cNvPr id="72" name="Text 19"/>
          <p:cNvSpPr txBox="1"/>
          <p:nvPr/>
        </p:nvSpPr>
        <p:spPr>
          <a:xfrm>
            <a:off x="5591556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alert</a:t>
            </a:r>
            <a:endParaRPr lang="en-US" sz="900" dirty="0"/>
          </a:p>
        </p:txBody>
      </p:sp>
      <p:pic>
        <p:nvPicPr>
          <p:cNvPr id="73" name="Image 51" descr="preencoded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6820967" y="3108960"/>
            <a:ext cx="566928" cy="566928"/>
          </a:xfrm>
          <a:prstGeom prst="rect">
            <a:avLst/>
          </a:prstGeom>
        </p:spPr>
      </p:pic>
      <p:pic>
        <p:nvPicPr>
          <p:cNvPr id="74" name="Image 52" descr="preencoded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6866687" y="3721608"/>
            <a:ext cx="256032" cy="256032"/>
          </a:xfrm>
          <a:prstGeom prst="rect">
            <a:avLst/>
          </a:prstGeom>
        </p:spPr>
      </p:pic>
      <p:pic>
        <p:nvPicPr>
          <p:cNvPr id="75" name="Image 53" descr="preencoded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7150151" y="3721608"/>
            <a:ext cx="256032" cy="256032"/>
          </a:xfrm>
          <a:prstGeom prst="rect">
            <a:avLst/>
          </a:prstGeom>
        </p:spPr>
      </p:pic>
      <p:sp>
        <p:nvSpPr>
          <p:cNvPr id="76" name="Text 20"/>
          <p:cNvSpPr txBox="1"/>
          <p:nvPr/>
        </p:nvSpPr>
        <p:spPr>
          <a:xfrm>
            <a:off x="6600139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info</a:t>
            </a:r>
            <a:endParaRPr lang="en-US" sz="900" dirty="0"/>
          </a:p>
        </p:txBody>
      </p:sp>
      <p:pic>
        <p:nvPicPr>
          <p:cNvPr id="77" name="Image 54" descr="preencoded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7829550" y="3108960"/>
            <a:ext cx="566928" cy="566928"/>
          </a:xfrm>
          <a:prstGeom prst="rect">
            <a:avLst/>
          </a:prstGeom>
        </p:spPr>
      </p:pic>
      <p:pic>
        <p:nvPicPr>
          <p:cNvPr id="78" name="Image 55" descr="preencoded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875270" y="3721608"/>
            <a:ext cx="256032" cy="256032"/>
          </a:xfrm>
          <a:prstGeom prst="rect">
            <a:avLst/>
          </a:prstGeom>
        </p:spPr>
      </p:pic>
      <p:pic>
        <p:nvPicPr>
          <p:cNvPr id="79" name="Image 56" descr="preencoded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8158734" y="3721608"/>
            <a:ext cx="256032" cy="256032"/>
          </a:xfrm>
          <a:prstGeom prst="rect">
            <a:avLst/>
          </a:prstGeom>
        </p:spPr>
      </p:pic>
      <p:sp>
        <p:nvSpPr>
          <p:cNvPr id="80" name="Text 21"/>
          <p:cNvSpPr txBox="1"/>
          <p:nvPr/>
        </p:nvSpPr>
        <p:spPr>
          <a:xfrm>
            <a:off x="7608722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wifi-off</a:t>
            </a:r>
            <a:endParaRPr lang="en-US" sz="900" dirty="0"/>
          </a:p>
        </p:txBody>
      </p:sp>
      <p:pic>
        <p:nvPicPr>
          <p:cNvPr id="81" name="Image 57" descr="preencoded.png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8838133" y="3108960"/>
            <a:ext cx="566928" cy="566928"/>
          </a:xfrm>
          <a:prstGeom prst="rect">
            <a:avLst/>
          </a:prstGeom>
        </p:spPr>
      </p:pic>
      <p:pic>
        <p:nvPicPr>
          <p:cNvPr id="82" name="Image 58" descr="preencoded.png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8883853" y="3721608"/>
            <a:ext cx="256032" cy="256032"/>
          </a:xfrm>
          <a:prstGeom prst="rect">
            <a:avLst/>
          </a:prstGeom>
        </p:spPr>
      </p:pic>
      <p:pic>
        <p:nvPicPr>
          <p:cNvPr id="83" name="Image 59" descr="preencoded.png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9167317" y="3721608"/>
            <a:ext cx="256032" cy="256032"/>
          </a:xfrm>
          <a:prstGeom prst="rect">
            <a:avLst/>
          </a:prstGeom>
        </p:spPr>
      </p:pic>
      <p:sp>
        <p:nvSpPr>
          <p:cNvPr id="84" name="Text 22"/>
          <p:cNvSpPr txBox="1"/>
          <p:nvPr/>
        </p:nvSpPr>
        <p:spPr>
          <a:xfrm>
            <a:off x="8617306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close</a:t>
            </a:r>
            <a:endParaRPr lang="en-US" sz="900" dirty="0"/>
          </a:p>
        </p:txBody>
      </p:sp>
      <p:pic>
        <p:nvPicPr>
          <p:cNvPr id="85" name="Image 60" descr="preencoded.png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9846716" y="3108960"/>
            <a:ext cx="566928" cy="566928"/>
          </a:xfrm>
          <a:prstGeom prst="rect">
            <a:avLst/>
          </a:prstGeom>
        </p:spPr>
      </p:pic>
      <p:pic>
        <p:nvPicPr>
          <p:cNvPr id="86" name="Image 61" descr="preencoded.png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9892436" y="3721608"/>
            <a:ext cx="256032" cy="256032"/>
          </a:xfrm>
          <a:prstGeom prst="rect">
            <a:avLst/>
          </a:prstGeom>
        </p:spPr>
      </p:pic>
      <p:pic>
        <p:nvPicPr>
          <p:cNvPr id="87" name="Image 62" descr="preencoded.png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10175900" y="3721608"/>
            <a:ext cx="256032" cy="256032"/>
          </a:xfrm>
          <a:prstGeom prst="rect">
            <a:avLst/>
          </a:prstGeom>
        </p:spPr>
      </p:pic>
      <p:sp>
        <p:nvSpPr>
          <p:cNvPr id="88" name="Text 23"/>
          <p:cNvSpPr txBox="1"/>
          <p:nvPr/>
        </p:nvSpPr>
        <p:spPr>
          <a:xfrm>
            <a:off x="9625889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bulb</a:t>
            </a:r>
            <a:endParaRPr lang="en-US" sz="900" dirty="0"/>
          </a:p>
        </p:txBody>
      </p:sp>
      <p:pic>
        <p:nvPicPr>
          <p:cNvPr id="89" name="Image 63" descr="preencoded.png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10855300" y="3108960"/>
            <a:ext cx="566928" cy="566928"/>
          </a:xfrm>
          <a:prstGeom prst="rect">
            <a:avLst/>
          </a:prstGeom>
        </p:spPr>
      </p:pic>
      <p:pic>
        <p:nvPicPr>
          <p:cNvPr id="90" name="Image 64" descr="preencoded.png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10901020" y="3721608"/>
            <a:ext cx="256032" cy="256032"/>
          </a:xfrm>
          <a:prstGeom prst="rect">
            <a:avLst/>
          </a:prstGeom>
        </p:spPr>
      </p:pic>
      <p:pic>
        <p:nvPicPr>
          <p:cNvPr id="91" name="Image 65" descr="preencoded.png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11184484" y="3721608"/>
            <a:ext cx="256032" cy="256032"/>
          </a:xfrm>
          <a:prstGeom prst="rect">
            <a:avLst/>
          </a:prstGeom>
        </p:spPr>
      </p:pic>
      <p:sp>
        <p:nvSpPr>
          <p:cNvPr id="92" name="Text 24"/>
          <p:cNvSpPr txBox="1"/>
          <p:nvPr/>
        </p:nvSpPr>
        <p:spPr>
          <a:xfrm>
            <a:off x="10634472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rocket</a:t>
            </a:r>
            <a:endParaRPr lang="en-US" sz="900" dirty="0"/>
          </a:p>
        </p:txBody>
      </p:sp>
      <p:pic>
        <p:nvPicPr>
          <p:cNvPr id="93" name="Image 66" descr="preencoded.png">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769468" y="4526280"/>
            <a:ext cx="566928" cy="566928"/>
          </a:xfrm>
          <a:prstGeom prst="rect">
            <a:avLst/>
          </a:prstGeom>
        </p:spPr>
      </p:pic>
      <p:pic>
        <p:nvPicPr>
          <p:cNvPr id="94" name="Image 67" descr="preencoded.png">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815188" y="5138928"/>
            <a:ext cx="256032" cy="256032"/>
          </a:xfrm>
          <a:prstGeom prst="rect">
            <a:avLst/>
          </a:prstGeom>
        </p:spPr>
      </p:pic>
      <p:pic>
        <p:nvPicPr>
          <p:cNvPr id="95" name="Image 68" descr="preencoded.png">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1098652" y="5138928"/>
            <a:ext cx="256032" cy="256032"/>
          </a:xfrm>
          <a:prstGeom prst="rect">
            <a:avLst/>
          </a:prstGeom>
        </p:spPr>
      </p:pic>
      <p:sp>
        <p:nvSpPr>
          <p:cNvPr id="96" name="Text 25"/>
          <p:cNvSpPr txBox="1"/>
          <p:nvPr/>
        </p:nvSpPr>
        <p:spPr>
          <a:xfrm>
            <a:off x="548640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tool</a:t>
            </a:r>
            <a:endParaRPr lang="en-US" sz="900" dirty="0"/>
          </a:p>
        </p:txBody>
      </p:sp>
      <p:pic>
        <p:nvPicPr>
          <p:cNvPr id="97" name="Image 69" descr="preencoded.png">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1778051" y="4526280"/>
            <a:ext cx="566928" cy="566928"/>
          </a:xfrm>
          <a:prstGeom prst="rect">
            <a:avLst/>
          </a:prstGeom>
        </p:spPr>
      </p:pic>
      <p:pic>
        <p:nvPicPr>
          <p:cNvPr id="98" name="Image 70" descr="preencoded.png">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1823771" y="5138928"/>
            <a:ext cx="256032" cy="256032"/>
          </a:xfrm>
          <a:prstGeom prst="rect">
            <a:avLst/>
          </a:prstGeom>
        </p:spPr>
      </p:pic>
      <p:pic>
        <p:nvPicPr>
          <p:cNvPr id="99" name="Image 71" descr="preencoded.png">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2107235" y="5138928"/>
            <a:ext cx="256032" cy="256032"/>
          </a:xfrm>
          <a:prstGeom prst="rect">
            <a:avLst/>
          </a:prstGeom>
        </p:spPr>
      </p:pic>
      <p:sp>
        <p:nvSpPr>
          <p:cNvPr id="100" name="Text 26"/>
          <p:cNvSpPr txBox="1"/>
          <p:nvPr/>
        </p:nvSpPr>
        <p:spPr>
          <a:xfrm>
            <a:off x="1557223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clipboard</a:t>
            </a:r>
            <a:endParaRPr lang="en-US" sz="900" dirty="0"/>
          </a:p>
        </p:txBody>
      </p:sp>
      <p:pic>
        <p:nvPicPr>
          <p:cNvPr id="101" name="Image 72" descr="preencoded.png">    </p:cNvPr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2786634" y="4526280"/>
            <a:ext cx="566928" cy="566928"/>
          </a:xfrm>
          <a:prstGeom prst="rect">
            <a:avLst/>
          </a:prstGeom>
        </p:spPr>
      </p:pic>
      <p:pic>
        <p:nvPicPr>
          <p:cNvPr id="102" name="Image 73" descr="preencoded.png">    </p:cNvPr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2832354" y="5138928"/>
            <a:ext cx="256032" cy="256032"/>
          </a:xfrm>
          <a:prstGeom prst="rect">
            <a:avLst/>
          </a:prstGeom>
        </p:spPr>
      </p:pic>
      <p:pic>
        <p:nvPicPr>
          <p:cNvPr id="103" name="Image 74" descr="preencoded.png">    </p:cNvPr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3115818" y="5138928"/>
            <a:ext cx="256032" cy="256032"/>
          </a:xfrm>
          <a:prstGeom prst="rect">
            <a:avLst/>
          </a:prstGeom>
        </p:spPr>
      </p:pic>
      <p:sp>
        <p:nvSpPr>
          <p:cNvPr id="104" name="Text 27"/>
          <p:cNvSpPr txBox="1"/>
          <p:nvPr/>
        </p:nvSpPr>
        <p:spPr>
          <a:xfrm>
            <a:off x="2565806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chat</a:t>
            </a:r>
            <a:endParaRPr lang="en-US" sz="900" dirty="0"/>
          </a:p>
        </p:txBody>
      </p:sp>
      <p:pic>
        <p:nvPicPr>
          <p:cNvPr id="105" name="Image 75" descr="preencoded.png">    </p:cNvPr>
          <p:cNvPicPr>
            <a:picLocks noChangeAspect="1"/>
          </p:cNvPicPr>
          <p:nvPr/>
        </p:nvPicPr>
        <p:blipFill>
          <a:blip r:embed="rId76"/>
          <a:stretch>
            <a:fillRect/>
          </a:stretch>
        </p:blipFill>
        <p:spPr>
          <a:xfrm>
            <a:off x="3795217" y="4526280"/>
            <a:ext cx="566928" cy="566928"/>
          </a:xfrm>
          <a:prstGeom prst="rect">
            <a:avLst/>
          </a:prstGeom>
        </p:spPr>
      </p:pic>
      <p:pic>
        <p:nvPicPr>
          <p:cNvPr id="106" name="Image 76" descr="preencoded.png">    </p:cNvPr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3840937" y="5138928"/>
            <a:ext cx="256032" cy="256032"/>
          </a:xfrm>
          <a:prstGeom prst="rect">
            <a:avLst/>
          </a:prstGeom>
        </p:spPr>
      </p:pic>
      <p:pic>
        <p:nvPicPr>
          <p:cNvPr id="107" name="Image 77" descr="preencoded.png">    </p:cNvPr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4124401" y="5138928"/>
            <a:ext cx="256032" cy="256032"/>
          </a:xfrm>
          <a:prstGeom prst="rect">
            <a:avLst/>
          </a:prstGeom>
        </p:spPr>
      </p:pic>
      <p:sp>
        <p:nvSpPr>
          <p:cNvPr id="108" name="Text 28"/>
          <p:cNvSpPr txBox="1"/>
          <p:nvPr/>
        </p:nvSpPr>
        <p:spPr>
          <a:xfrm>
            <a:off x="3574390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lock</a:t>
            </a:r>
            <a:endParaRPr lang="en-US" sz="900" dirty="0"/>
          </a:p>
        </p:txBody>
      </p:sp>
      <p:pic>
        <p:nvPicPr>
          <p:cNvPr id="109" name="Image 78" descr="preencoded.png">    </p:cNvPr>
          <p:cNvPicPr>
            <a:picLocks noChangeAspect="1"/>
          </p:cNvPicPr>
          <p:nvPr/>
        </p:nvPicPr>
        <p:blipFill>
          <a:blip r:embed="rId79"/>
          <a:stretch>
            <a:fillRect/>
          </a:stretch>
        </p:blipFill>
        <p:spPr>
          <a:xfrm>
            <a:off x="4803800" y="4526280"/>
            <a:ext cx="566928" cy="566928"/>
          </a:xfrm>
          <a:prstGeom prst="rect">
            <a:avLst/>
          </a:prstGeom>
        </p:spPr>
      </p:pic>
      <p:pic>
        <p:nvPicPr>
          <p:cNvPr id="110" name="Image 79" descr="preencoded.png">    </p:cNvPr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4849520" y="5138928"/>
            <a:ext cx="256032" cy="256032"/>
          </a:xfrm>
          <a:prstGeom prst="rect">
            <a:avLst/>
          </a:prstGeom>
        </p:spPr>
      </p:pic>
      <p:pic>
        <p:nvPicPr>
          <p:cNvPr id="111" name="Image 80" descr="preencoded.png">    </p:cNvPr>
          <p:cNvPicPr>
            <a:picLocks noChangeAspect="1"/>
          </p:cNvPicPr>
          <p:nvPr/>
        </p:nvPicPr>
        <p:blipFill>
          <a:blip r:embed="rId81"/>
          <a:stretch>
            <a:fillRect/>
          </a:stretch>
        </p:blipFill>
        <p:spPr>
          <a:xfrm>
            <a:off x="5132984" y="5138928"/>
            <a:ext cx="256032" cy="256032"/>
          </a:xfrm>
          <a:prstGeom prst="rect">
            <a:avLst/>
          </a:prstGeom>
        </p:spPr>
      </p:pic>
      <p:sp>
        <p:nvSpPr>
          <p:cNvPr id="112" name="Text 29"/>
          <p:cNvSpPr txBox="1"/>
          <p:nvPr/>
        </p:nvSpPr>
        <p:spPr>
          <a:xfrm>
            <a:off x="4582973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refresh</a:t>
            </a:r>
            <a:endParaRPr lang="en-US" sz="900" dirty="0"/>
          </a:p>
        </p:txBody>
      </p:sp>
      <p:pic>
        <p:nvPicPr>
          <p:cNvPr id="113" name="Image 81" descr="preencoded.png">    </p:cNvPr>
          <p:cNvPicPr>
            <a:picLocks noChangeAspect="1"/>
          </p:cNvPicPr>
          <p:nvPr/>
        </p:nvPicPr>
        <p:blipFill>
          <a:blip r:embed="rId82"/>
          <a:stretch>
            <a:fillRect/>
          </a:stretch>
        </p:blipFill>
        <p:spPr>
          <a:xfrm>
            <a:off x="5812384" y="4526280"/>
            <a:ext cx="566928" cy="566928"/>
          </a:xfrm>
          <a:prstGeom prst="rect">
            <a:avLst/>
          </a:prstGeom>
        </p:spPr>
      </p:pic>
      <p:pic>
        <p:nvPicPr>
          <p:cNvPr id="114" name="Image 82" descr="preencoded.png">    </p:cNvPr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5858104" y="5138928"/>
            <a:ext cx="256032" cy="256032"/>
          </a:xfrm>
          <a:prstGeom prst="rect">
            <a:avLst/>
          </a:prstGeom>
        </p:spPr>
      </p:pic>
      <p:pic>
        <p:nvPicPr>
          <p:cNvPr id="115" name="Image 83" descr="preencoded.png">    </p:cNvPr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6141568" y="5138928"/>
            <a:ext cx="256032" cy="256032"/>
          </a:xfrm>
          <a:prstGeom prst="rect">
            <a:avLst/>
          </a:prstGeom>
        </p:spPr>
      </p:pic>
      <p:sp>
        <p:nvSpPr>
          <p:cNvPr id="116" name="Text 30"/>
          <p:cNvSpPr txBox="1"/>
          <p:nvPr/>
        </p:nvSpPr>
        <p:spPr>
          <a:xfrm>
            <a:off x="5591556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id-card</a:t>
            </a:r>
            <a:endParaRPr lang="en-US" sz="900" dirty="0"/>
          </a:p>
        </p:txBody>
      </p:sp>
      <p:pic>
        <p:nvPicPr>
          <p:cNvPr id="117" name="Image 84" descr="preencoded.png">    </p:cNvPr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6820967" y="4526280"/>
            <a:ext cx="566928" cy="566928"/>
          </a:xfrm>
          <a:prstGeom prst="rect">
            <a:avLst/>
          </a:prstGeom>
        </p:spPr>
      </p:pic>
      <p:pic>
        <p:nvPicPr>
          <p:cNvPr id="118" name="Image 85" descr="preencoded.png">    </p:cNvPr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6866687" y="5138928"/>
            <a:ext cx="256032" cy="256032"/>
          </a:xfrm>
          <a:prstGeom prst="rect">
            <a:avLst/>
          </a:prstGeom>
        </p:spPr>
      </p:pic>
      <p:pic>
        <p:nvPicPr>
          <p:cNvPr id="119" name="Image 86" descr="preencoded.png">    </p:cNvPr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7150151" y="5138928"/>
            <a:ext cx="256032" cy="256032"/>
          </a:xfrm>
          <a:prstGeom prst="rect">
            <a:avLst/>
          </a:prstGeom>
        </p:spPr>
      </p:pic>
      <p:sp>
        <p:nvSpPr>
          <p:cNvPr id="120" name="Text 31"/>
          <p:cNvSpPr txBox="1"/>
          <p:nvPr/>
        </p:nvSpPr>
        <p:spPr>
          <a:xfrm>
            <a:off x="6600139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circle-empty</a:t>
            </a:r>
            <a:endParaRPr lang="en-US" sz="900" dirty="0"/>
          </a:p>
        </p:txBody>
      </p:sp>
      <p:pic>
        <p:nvPicPr>
          <p:cNvPr id="121" name="Image 87" descr="preencoded.png">    </p:cNvPr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7829550" y="4526280"/>
            <a:ext cx="566928" cy="566928"/>
          </a:xfrm>
          <a:prstGeom prst="rect">
            <a:avLst/>
          </a:prstGeom>
        </p:spPr>
      </p:pic>
      <p:pic>
        <p:nvPicPr>
          <p:cNvPr id="122" name="Image 88" descr="preencoded.png">    </p:cNvPr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7875270" y="5138928"/>
            <a:ext cx="256032" cy="256032"/>
          </a:xfrm>
          <a:prstGeom prst="rect">
            <a:avLst/>
          </a:prstGeom>
        </p:spPr>
      </p:pic>
      <p:pic>
        <p:nvPicPr>
          <p:cNvPr id="123" name="Image 89" descr="preencoded.png">    </p:cNvPr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8158734" y="5138928"/>
            <a:ext cx="256032" cy="256032"/>
          </a:xfrm>
          <a:prstGeom prst="rect">
            <a:avLst/>
          </a:prstGeom>
        </p:spPr>
      </p:pic>
      <p:sp>
        <p:nvSpPr>
          <p:cNvPr id="124" name="Text 32"/>
          <p:cNvSpPr txBox="1"/>
          <p:nvPr/>
        </p:nvSpPr>
        <p:spPr>
          <a:xfrm>
            <a:off x="7608722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circle-half</a:t>
            </a:r>
            <a:endParaRPr lang="en-US" sz="900" dirty="0"/>
          </a:p>
        </p:txBody>
      </p:sp>
      <p:pic>
        <p:nvPicPr>
          <p:cNvPr id="125" name="Image 90" descr="preencoded.png">    </p:cNvPr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8838133" y="4526280"/>
            <a:ext cx="566928" cy="566928"/>
          </a:xfrm>
          <a:prstGeom prst="rect">
            <a:avLst/>
          </a:prstGeom>
        </p:spPr>
      </p:pic>
      <p:pic>
        <p:nvPicPr>
          <p:cNvPr id="126" name="Image 91" descr="preencoded.png">    </p:cNvPr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8883853" y="5138928"/>
            <a:ext cx="256032" cy="256032"/>
          </a:xfrm>
          <a:prstGeom prst="rect">
            <a:avLst/>
          </a:prstGeom>
        </p:spPr>
      </p:pic>
      <p:pic>
        <p:nvPicPr>
          <p:cNvPr id="127" name="Image 92" descr="preencoded.png">    </p:cNvPr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9167317" y="5138928"/>
            <a:ext cx="256032" cy="256032"/>
          </a:xfrm>
          <a:prstGeom prst="rect">
            <a:avLst/>
          </a:prstGeom>
        </p:spPr>
      </p:pic>
      <p:sp>
        <p:nvSpPr>
          <p:cNvPr id="128" name="Text 33"/>
          <p:cNvSpPr txBox="1"/>
          <p:nvPr/>
        </p:nvSpPr>
        <p:spPr>
          <a:xfrm>
            <a:off x="8617306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circle-check</a:t>
            </a:r>
            <a:endParaRPr lang="en-US" sz="900" dirty="0"/>
          </a:p>
        </p:txBody>
      </p:sp>
      <p:pic>
        <p:nvPicPr>
          <p:cNvPr id="129" name="Image 93" descr="preencoded.png">    </p:cNvPr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9846716" y="4526280"/>
            <a:ext cx="566928" cy="566928"/>
          </a:xfrm>
          <a:prstGeom prst="rect">
            <a:avLst/>
          </a:prstGeom>
        </p:spPr>
      </p:pic>
      <p:pic>
        <p:nvPicPr>
          <p:cNvPr id="130" name="Image 94" descr="preencoded.png">    </p:cNvPr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9892436" y="5138928"/>
            <a:ext cx="256032" cy="256032"/>
          </a:xfrm>
          <a:prstGeom prst="rect">
            <a:avLst/>
          </a:prstGeom>
        </p:spPr>
      </p:pic>
      <p:pic>
        <p:nvPicPr>
          <p:cNvPr id="131" name="Image 95" descr="preencoded.png">    </p:cNvPr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10175900" y="5138928"/>
            <a:ext cx="256032" cy="256032"/>
          </a:xfrm>
          <a:prstGeom prst="rect">
            <a:avLst/>
          </a:prstGeom>
        </p:spPr>
      </p:pic>
      <p:sp>
        <p:nvSpPr>
          <p:cNvPr id="132" name="Text 34"/>
          <p:cNvSpPr txBox="1"/>
          <p:nvPr/>
        </p:nvSpPr>
        <p:spPr>
          <a:xfrm>
            <a:off x="9625889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menu</a:t>
            </a:r>
            <a:endParaRPr lang="en-US" sz="900" dirty="0"/>
          </a:p>
        </p:txBody>
      </p:sp>
      <p:pic>
        <p:nvPicPr>
          <p:cNvPr id="133" name="Image 96" descr="preencoded.png">    </p:cNvPr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10855300" y="4526280"/>
            <a:ext cx="566928" cy="566928"/>
          </a:xfrm>
          <a:prstGeom prst="rect">
            <a:avLst/>
          </a:prstGeom>
        </p:spPr>
      </p:pic>
      <p:pic>
        <p:nvPicPr>
          <p:cNvPr id="134" name="Image 97" descr="preencoded.png">    </p:cNvPr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10901020" y="5138928"/>
            <a:ext cx="256032" cy="256032"/>
          </a:xfrm>
          <a:prstGeom prst="rect">
            <a:avLst/>
          </a:prstGeom>
        </p:spPr>
      </p:pic>
      <p:pic>
        <p:nvPicPr>
          <p:cNvPr id="135" name="Image 98" descr="preencoded.png">    </p:cNvPr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11184484" y="5138928"/>
            <a:ext cx="256032" cy="256032"/>
          </a:xfrm>
          <a:prstGeom prst="rect">
            <a:avLst/>
          </a:prstGeom>
        </p:spPr>
      </p:pic>
      <p:sp>
        <p:nvSpPr>
          <p:cNvPr id="136" name="Text 35"/>
          <p:cNvSpPr txBox="1"/>
          <p:nvPr/>
        </p:nvSpPr>
        <p:spPr>
          <a:xfrm>
            <a:off x="10634472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medal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mpus Pivot · Super Humanos">
  <a:themeElements>
    <a:clrScheme name="Campus Pivot · Super Humanos">
      <a:dk1>
        <a:srgbClr val="0D0D0C"/>
      </a:dk1>
      <a:lt1>
        <a:srgbClr val="FFFFFF"/>
      </a:lt1>
      <a:dk2>
        <a:srgbClr val="3D3D38"/>
      </a:dk2>
      <a:lt2>
        <a:srgbClr val="F7F7F5"/>
      </a:lt2>
      <a:accent1>
        <a:srgbClr val="FCC800"/>
      </a:accent1>
      <a:accent2>
        <a:srgbClr val="8A6B00"/>
      </a:accent2>
      <a:accent3>
        <a:srgbClr val="56564F"/>
      </a:accent3>
      <a:accent4>
        <a:srgbClr val="15702F"/>
      </a:accent4>
      <a:accent5>
        <a:srgbClr val="1D5FBF"/>
      </a:accent5>
      <a:accent6>
        <a:srgbClr val="B54708"/>
      </a:accent6>
      <a:hlink>
        <a:srgbClr val="0D0D0C"/>
      </a:hlink>
      <a:folHlink>
        <a:srgbClr val="56564F"/>
      </a:folHlink>
    </a:clrScheme>
    <a:fontScheme name="Campus Pivot · Super Humanos">
      <a:majorFont>
        <a:latin typeface="Barlow Condense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tkinson Hyperlegible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Pivot Power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Plantilla taller · Encuentro 2 · aplicación</dc:title>
  <dc:subject>PptxGenJS Presentation</dc:subject>
  <dc:creator>Pivot Power</dc:creator>
  <cp:lastModifiedBy>Pivot Power</cp:lastModifiedBy>
  <cp:revision>1</cp:revision>
  <dcterms:created xsi:type="dcterms:W3CDTF">2026-10-03T13:07:39Z</dcterms:created>
  <dcterms:modified xsi:type="dcterms:W3CDTF">2026-10-03T13:07:39Z</dcterms:modified>
</cp:coreProperties>
</file>