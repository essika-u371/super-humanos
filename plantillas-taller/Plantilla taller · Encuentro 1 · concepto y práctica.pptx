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cuentro 1" id="{4498d61c-6e6a-380e-3daa-f07f54a4303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Cambia los marcadores entre corchetes. El título admite hasta 40 caracteres en una línea; si pasa a dos, baja a 56 pt. El recorrido de abajo marca en amarillo el taller actual: cambia el color del chevrón en vez de borrarlo.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Los minutos son la distribución por defecto; ajústalos en los chevrones si el taller lo necesita. Cada texto bajo el chevrón admite dos líneas cortas.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Hábito de apertura. El hábito en una o dos palabras a la izquierda. La historia a la derecha: 70 palabras como máximo. La cita es opcional; si no hay, borra el texto y deja el 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de IA. Una definición y tres ideas. Si el concepto necesita más de tres ideas, duplica la diapositiva; no agregues una cuarta tarjeta.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Elemento del método. Pinta de amarillo el chevrón del taller actual y pon su nombre en la tarjeta de la izquierda. La lista de la derecha no cambia entre talleres.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Demostración. Cinco pasos como máximo; si el caso necesita más, usa la variante de pantalla dividida que sigue. El prompt va completo: la gente lo copia de la grabación.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de la demostración. A la izquierda el prompt; a la derecha, la captura del resultado o el espacio para compartir pantalla. Borra el recuadro punteado si vas a compartir pantalla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guiada. Tres instrucciones como máximo. El tiempo de la derecha es el que ve la gente; ponle el cronómetro de Teams encima si lo usas.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 proceso. Los tres campos del formato en el orden en que se llenan. En la cinta de abajo va el lugar exacto donde la persona lo encuentra.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 de la semana. El texto del reto sale del calendario de los 28 retos. Una frase en grande, dos líneas de detalle. Los puntos vienen del manual de puntajes.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Consultorio. La fecha en grande. Los tres textos de la derecha no cambian entre talleres salvo que cambie la regla del consultorio.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Tres cifras de puntos tomadas del manual de puntajes. La barra muestra el recorrido del mes con el primer chevrón en amarillo.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diapositiva de la plantilla. Se borra antes de presentar. Nombre del archivo: SH_[PERFIL]_T[N]_E1_[AAAAMMDD]. El pie de página se edita una sola vez por archivo en Vista &gt; Patrón de diapositivas.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Treinta y tres íconos del sistema Campus Pivot en tres variantes: círculo negro con trazo amarillo, trazo negro suelto y círculo amarillo con trazo negro. Son imágenes PNG de 512 px. El sprite SVG original vive en el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_OSCURO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Encuentro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image" Target="../media/image-14-19.png"/><Relationship Id="rId20" Type="http://schemas.openxmlformats.org/officeDocument/2006/relationships/image" Target="../media/image-14-20.png"/><Relationship Id="rId21" Type="http://schemas.openxmlformats.org/officeDocument/2006/relationships/image" Target="../media/image-14-21.png"/><Relationship Id="rId22" Type="http://schemas.openxmlformats.org/officeDocument/2006/relationships/image" Target="../media/image-14-22.png"/><Relationship Id="rId23" Type="http://schemas.openxmlformats.org/officeDocument/2006/relationships/image" Target="../media/image-14-23.png"/><Relationship Id="rId24" Type="http://schemas.openxmlformats.org/officeDocument/2006/relationships/image" Target="../media/image-14-24.png"/><Relationship Id="rId25" Type="http://schemas.openxmlformats.org/officeDocument/2006/relationships/image" Target="../media/image-14-25.png"/><Relationship Id="rId26" Type="http://schemas.openxmlformats.org/officeDocument/2006/relationships/image" Target="../media/image-14-26.png"/><Relationship Id="rId27" Type="http://schemas.openxmlformats.org/officeDocument/2006/relationships/image" Target="../media/image-14-27.png"/><Relationship Id="rId28" Type="http://schemas.openxmlformats.org/officeDocument/2006/relationships/image" Target="../media/image-14-28.png"/><Relationship Id="rId29" Type="http://schemas.openxmlformats.org/officeDocument/2006/relationships/image" Target="../media/image-14-29.png"/><Relationship Id="rId30" Type="http://schemas.openxmlformats.org/officeDocument/2006/relationships/image" Target="../media/image-14-30.png"/><Relationship Id="rId31" Type="http://schemas.openxmlformats.org/officeDocument/2006/relationships/image" Target="../media/image-14-31.png"/><Relationship Id="rId32" Type="http://schemas.openxmlformats.org/officeDocument/2006/relationships/image" Target="../media/image-14-32.png"/><Relationship Id="rId33" Type="http://schemas.openxmlformats.org/officeDocument/2006/relationships/image" Target="../media/image-14-33.png"/><Relationship Id="rId34" Type="http://schemas.openxmlformats.org/officeDocument/2006/relationships/image" Target="../media/image-14-34.png"/><Relationship Id="rId35" Type="http://schemas.openxmlformats.org/officeDocument/2006/relationships/image" Target="../media/image-14-35.png"/><Relationship Id="rId36" Type="http://schemas.openxmlformats.org/officeDocument/2006/relationships/image" Target="../media/image-14-36.png"/><Relationship Id="rId37" Type="http://schemas.openxmlformats.org/officeDocument/2006/relationships/image" Target="../media/image-14-37.png"/><Relationship Id="rId38" Type="http://schemas.openxmlformats.org/officeDocument/2006/relationships/image" Target="../media/image-14-38.png"/><Relationship Id="rId39" Type="http://schemas.openxmlformats.org/officeDocument/2006/relationships/image" Target="../media/image-14-39.png"/><Relationship Id="rId40" Type="http://schemas.openxmlformats.org/officeDocument/2006/relationships/image" Target="../media/image-14-40.png"/><Relationship Id="rId41" Type="http://schemas.openxmlformats.org/officeDocument/2006/relationships/image" Target="../media/image-14-41.png"/><Relationship Id="rId42" Type="http://schemas.openxmlformats.org/officeDocument/2006/relationships/image" Target="../media/image-14-42.png"/><Relationship Id="rId43" Type="http://schemas.openxmlformats.org/officeDocument/2006/relationships/image" Target="../media/image-14-43.png"/><Relationship Id="rId44" Type="http://schemas.openxmlformats.org/officeDocument/2006/relationships/image" Target="../media/image-14-44.png"/><Relationship Id="rId45" Type="http://schemas.openxmlformats.org/officeDocument/2006/relationships/image" Target="../media/image-14-45.png"/><Relationship Id="rId46" Type="http://schemas.openxmlformats.org/officeDocument/2006/relationships/image" Target="../media/image-14-46.png"/><Relationship Id="rId47" Type="http://schemas.openxmlformats.org/officeDocument/2006/relationships/image" Target="../media/image-14-47.png"/><Relationship Id="rId48" Type="http://schemas.openxmlformats.org/officeDocument/2006/relationships/image" Target="../media/image-14-48.png"/><Relationship Id="rId49" Type="http://schemas.openxmlformats.org/officeDocument/2006/relationships/image" Target="../media/image-14-49.png"/><Relationship Id="rId50" Type="http://schemas.openxmlformats.org/officeDocument/2006/relationships/image" Target="../media/image-14-50.png"/><Relationship Id="rId51" Type="http://schemas.openxmlformats.org/officeDocument/2006/relationships/image" Target="../media/image-14-51.png"/><Relationship Id="rId52" Type="http://schemas.openxmlformats.org/officeDocument/2006/relationships/image" Target="../media/image-14-52.png"/><Relationship Id="rId53" Type="http://schemas.openxmlformats.org/officeDocument/2006/relationships/image" Target="../media/image-14-53.png"/><Relationship Id="rId54" Type="http://schemas.openxmlformats.org/officeDocument/2006/relationships/image" Target="../media/image-14-54.png"/><Relationship Id="rId55" Type="http://schemas.openxmlformats.org/officeDocument/2006/relationships/image" Target="../media/image-14-55.png"/><Relationship Id="rId56" Type="http://schemas.openxmlformats.org/officeDocument/2006/relationships/image" Target="../media/image-14-56.png"/><Relationship Id="rId57" Type="http://schemas.openxmlformats.org/officeDocument/2006/relationships/image" Target="../media/image-14-57.png"/><Relationship Id="rId58" Type="http://schemas.openxmlformats.org/officeDocument/2006/relationships/image" Target="../media/image-14-58.png"/><Relationship Id="rId59" Type="http://schemas.openxmlformats.org/officeDocument/2006/relationships/image" Target="../media/image-14-59.png"/><Relationship Id="rId60" Type="http://schemas.openxmlformats.org/officeDocument/2006/relationships/image" Target="../media/image-14-60.png"/><Relationship Id="rId61" Type="http://schemas.openxmlformats.org/officeDocument/2006/relationships/image" Target="../media/image-14-61.png"/><Relationship Id="rId62" Type="http://schemas.openxmlformats.org/officeDocument/2006/relationships/image" Target="../media/image-14-62.png"/><Relationship Id="rId63" Type="http://schemas.openxmlformats.org/officeDocument/2006/relationships/image" Target="../media/image-14-63.png"/><Relationship Id="rId64" Type="http://schemas.openxmlformats.org/officeDocument/2006/relationships/image" Target="../media/image-14-64.png"/><Relationship Id="rId65" Type="http://schemas.openxmlformats.org/officeDocument/2006/relationships/image" Target="../media/image-14-65.png"/><Relationship Id="rId66" Type="http://schemas.openxmlformats.org/officeDocument/2006/relationships/image" Target="../media/image-14-66.png"/><Relationship Id="rId67" Type="http://schemas.openxmlformats.org/officeDocument/2006/relationships/image" Target="../media/image-14-67.png"/><Relationship Id="rId68" Type="http://schemas.openxmlformats.org/officeDocument/2006/relationships/image" Target="../media/image-14-68.png"/><Relationship Id="rId69" Type="http://schemas.openxmlformats.org/officeDocument/2006/relationships/image" Target="../media/image-14-69.png"/><Relationship Id="rId70" Type="http://schemas.openxmlformats.org/officeDocument/2006/relationships/image" Target="../media/image-14-70.png"/><Relationship Id="rId71" Type="http://schemas.openxmlformats.org/officeDocument/2006/relationships/image" Target="../media/image-14-71.png"/><Relationship Id="rId72" Type="http://schemas.openxmlformats.org/officeDocument/2006/relationships/image" Target="../media/image-14-72.png"/><Relationship Id="rId73" Type="http://schemas.openxmlformats.org/officeDocument/2006/relationships/image" Target="../media/image-14-73.png"/><Relationship Id="rId74" Type="http://schemas.openxmlformats.org/officeDocument/2006/relationships/image" Target="../media/image-14-74.png"/><Relationship Id="rId75" Type="http://schemas.openxmlformats.org/officeDocument/2006/relationships/image" Target="../media/image-14-75.png"/><Relationship Id="rId76" Type="http://schemas.openxmlformats.org/officeDocument/2006/relationships/image" Target="../media/image-14-76.png"/><Relationship Id="rId77" Type="http://schemas.openxmlformats.org/officeDocument/2006/relationships/image" Target="../media/image-14-77.png"/><Relationship Id="rId78" Type="http://schemas.openxmlformats.org/officeDocument/2006/relationships/image" Target="../media/image-14-78.png"/><Relationship Id="rId79" Type="http://schemas.openxmlformats.org/officeDocument/2006/relationships/image" Target="../media/image-14-79.png"/><Relationship Id="rId80" Type="http://schemas.openxmlformats.org/officeDocument/2006/relationships/image" Target="../media/image-14-80.png"/><Relationship Id="rId81" Type="http://schemas.openxmlformats.org/officeDocument/2006/relationships/image" Target="../media/image-14-81.png"/><Relationship Id="rId82" Type="http://schemas.openxmlformats.org/officeDocument/2006/relationships/image" Target="../media/image-14-82.png"/><Relationship Id="rId83" Type="http://schemas.openxmlformats.org/officeDocument/2006/relationships/image" Target="../media/image-14-83.png"/><Relationship Id="rId84" Type="http://schemas.openxmlformats.org/officeDocument/2006/relationships/image" Target="../media/image-14-84.png"/><Relationship Id="rId85" Type="http://schemas.openxmlformats.org/officeDocument/2006/relationships/image" Target="../media/image-14-85.png"/><Relationship Id="rId86" Type="http://schemas.openxmlformats.org/officeDocument/2006/relationships/image" Target="../media/image-14-86.png"/><Relationship Id="rId87" Type="http://schemas.openxmlformats.org/officeDocument/2006/relationships/image" Target="../media/image-14-87.png"/><Relationship Id="rId88" Type="http://schemas.openxmlformats.org/officeDocument/2006/relationships/image" Target="../media/image-14-88.png"/><Relationship Id="rId89" Type="http://schemas.openxmlformats.org/officeDocument/2006/relationships/image" Target="../media/image-14-89.png"/><Relationship Id="rId90" Type="http://schemas.openxmlformats.org/officeDocument/2006/relationships/image" Target="../media/image-14-90.png"/><Relationship Id="rId91" Type="http://schemas.openxmlformats.org/officeDocument/2006/relationships/image" Target="../media/image-14-91.png"/><Relationship Id="rId92" Type="http://schemas.openxmlformats.org/officeDocument/2006/relationships/image" Target="../media/image-14-92.png"/><Relationship Id="rId93" Type="http://schemas.openxmlformats.org/officeDocument/2006/relationships/image" Target="../media/image-14-93.png"/><Relationship Id="rId94" Type="http://schemas.openxmlformats.org/officeDocument/2006/relationships/image" Target="../media/image-14-94.png"/><Relationship Id="rId95" Type="http://schemas.openxmlformats.org/officeDocument/2006/relationships/image" Target="../media/image-14-95.png"/><Relationship Id="rId96" Type="http://schemas.openxmlformats.org/officeDocument/2006/relationships/image" Target="../media/image-14-96.png"/><Relationship Id="rId97" Type="http://schemas.openxmlformats.org/officeDocument/2006/relationships/image" Target="../media/image-14-97.png"/><Relationship Id="rId98" Type="http://schemas.openxmlformats.org/officeDocument/2006/relationships/image" Target="../media/image-14-98.png"/><Relationship Id="rId99" Type="http://schemas.openxmlformats.org/officeDocument/2006/relationships/image" Target="../media/image-14-99.png"/><Relationship Id="rId100" Type="http://schemas.openxmlformats.org/officeDocument/2006/relationships/slideLayout" Target="../slideLayouts/slideLayout4.xml"/><Relationship Id="rId10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98525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47165" y="550469"/>
            <a:ext cx="1474013" cy="380390"/>
          </a:xfrm>
          <a:prstGeom prst="rect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2029" y="502920"/>
            <a:ext cx="1474013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HUMANOS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653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8288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[PERFIL] · TALLER [N] DE 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[NOMBRE DEL TALLER]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[CONCEPTO DEL MES]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66928" y="4535424"/>
            <a:ext cx="201168" cy="301752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434840"/>
            <a:ext cx="4754880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4348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i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ENCUENTRO 1 · CONCEPTO Y PRÁCTICA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90 minutos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[FECHA]</a:t>
            </a:r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 ·  [HORA]</a:t>
            </a:r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 ·  Teams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Docente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[DOCENTE]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5669280"/>
            <a:ext cx="632460" cy="38404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99248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6844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5444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4168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92768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51492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80092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38816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67416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026140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254740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61081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Recorrido · marca en amarillo el taller actual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AGENDA DE HOY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90 MINUTOS · SEIS MOMENTOS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803349" cy="5029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0–5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Conexión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Bienvenida y pregunta rápida en el 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06853" y="1783080"/>
            <a:ext cx="1803349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5453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5–15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406853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Hábito de apertura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historia real de G&amp;J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65066" y="1783080"/>
            <a:ext cx="1803349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3666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15–40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65066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Concepto de 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[CONCEPTO DEL MES]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3280" y="1783080"/>
            <a:ext cx="1803349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1880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40–60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23280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Demostración en vivo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Caso: [CASO DE G&amp;J]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81493" y="1783080"/>
            <a:ext cx="1803349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10093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60–80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981493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Práctica guiada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 el prompt de partida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39706" y="1783080"/>
            <a:ext cx="1803349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68306" y="1783080"/>
            <a:ext cx="13918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80–90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839706" y="2359152"/>
            <a:ext cx="180334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«Mi proceso» y reto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traes al encuentro 2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31920"/>
            <a:ext cx="548640" cy="5486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280160" y="3913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TE LLEVAS HOY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2245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 concepto, una demostración resuelta y tu primera práctica con el formato «Mi proceso».</a:t>
            </a:r>
            <a:endParaRPr lang="en-US" sz="14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931920"/>
            <a:ext cx="548640" cy="54864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23760" y="3913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SIGUE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7223760" y="422452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Consultorio el [FECHA CONSULTORIO] a las 4:00 p. m. y encuentro 2 el [FECHA E2].</a:t>
            </a:r>
            <a:endParaRPr lang="en-US" sz="14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0"/>
            <a:ext cx="548640" cy="54864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280160" y="50109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PUNTOS DE HOY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280160" y="5321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Asistencia completa: [PUNTOS ASISTENCIA] puntos. Reto de la semana: [PUNTOS RETO] puntos.</a:t>
            </a:r>
            <a:endParaRPr lang="en-US" sz="14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29200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223760" y="50109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GRABACIÓN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7223760" y="5321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Queda en la plataforma al día siguiente.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HÁBITO DE APERTURA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10 MINUTOS · MINUTO 5 AL 15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[HÁBITO]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[En una frase: qué hace una persona que tiene este hábito y por qué le sirve para que la IA le dé resultado.]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35040" y="1645920"/>
            <a:ext cx="5577840" cy="4206240"/>
          </a:xfrm>
          <a:prstGeom prst="roundRect">
            <a:avLst>
              <a:gd name="adj" fmla="val 2391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9048" y="1975104"/>
            <a:ext cx="201168" cy="219456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874520"/>
            <a:ext cx="4206240" cy="420624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187452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UNA HISTORIA REAL DE G&amp;J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5146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[HISTORIA REAL DE G&amp;J: qué pasó, en qué área, qué se perdió o se ganó. Máximo 70 palabras. Sale de las mesas de trabajo del 10 y 11 de septiembre.]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47548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“[Cita textual de la persona que contó la historia]”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[CONCEPTO DEL MES]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CONCEPTO DE IA · MINUTO 15 AL 40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[Definición en una frase, con palabras de la empresa. Máximo 25 palabras.]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15258" cy="31089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75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794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IDEA 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062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es, en lenguaje de oficina. Máximo 30 palabras.]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38218" y="2743200"/>
            <a:ext cx="3515258" cy="31089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30175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3794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IDEA 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42062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[Dónde se aplica en el rol [PERFIL]. Máximo 30 palabras.]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2743200"/>
            <a:ext cx="3515258" cy="31089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30175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3794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IDEA 3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420624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cambia cuando se usa bien. Máximo 30 palabras.]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ELEMENTO DEL MÉTODO QUE TRABAJAMOS HOY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MARCO ORBITA IA · SEIS ELEMENTOS, UNO POR TALLER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937760" cy="4160520"/>
          </a:xfrm>
          <a:prstGeom prst="roundRect">
            <a:avLst>
              <a:gd name="adj" fmla="val 2418"/>
            </a:avLst>
          </a:prstGeom>
          <a:solidFill>
            <a:srgbClr val="F7F7F5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777240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26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[ELEMENTO ORBITA IA]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[En qué consiste, en dos frases. Qué pregunta le hace a cada tarea del rol.]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02920" cy="54864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53328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691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USO RESPONSABLE Y RIESGO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989320" y="2386584"/>
            <a:ext cx="502920" cy="54864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53328" y="238658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38658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SEIS DESTINOS DEL TRABAJO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989320" y="3081528"/>
            <a:ext cx="502920" cy="54864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53328" y="308152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30815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JERARQUÍA DE TRANSFORMACIÓN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989320" y="3776472"/>
            <a:ext cx="502920" cy="54864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53328" y="377647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7764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CONTEXTO ANTES QUE MODELO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989320" y="4471416"/>
            <a:ext cx="502920" cy="54864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53328" y="447141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44714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MATRIZ HUMANO–IA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989320" y="5166360"/>
            <a:ext cx="502920" cy="548640"/>
          </a:xfrm>
          <a:prstGeom prst="chevron">
            <a:avLst/>
          </a:prstGeom>
          <a:solidFill>
            <a:srgbClr val="DEDED9"/>
          </a:solidFill>
          <a:ln w="12700">
            <a:solidFill>
              <a:srgbClr val="DEDED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53328" y="5166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5166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564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LÍNEA BASE ANTES DE INTERVENIR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DEMOSTRACIÓN EN VIVO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CASO DE G&amp;J · [CASO DE G&amp;J] · MINUTO 40 AL 60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37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[Paso 1: qué recibe el docente y de dónde sale]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[Paso 2: qué le pide a la herramienta]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[Paso 3: qué revisa en la respuesta]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206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[Paso 4: qué corrige o ajusta]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29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[Paso 5: qué entrega y a quién]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737360"/>
            <a:ext cx="5394960" cy="4114800"/>
          </a:xfrm>
          <a:prstGeom prst="roundRect">
            <a:avLst>
              <a:gd name="adj" fmla="val 2444"/>
            </a:avLst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938528"/>
            <a:ext cx="1133856" cy="29260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9672" y="193852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359152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[PROMPT DE LA DEMOSTRACIÓN. Escríbelo completo, tal como se pega en la herramienta: rol, contexto, tarea y formato de salida.]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DEMOSTRACIÓN · [CASO DE G&amp;J]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4937760" cy="5212080"/>
          </a:xfrm>
          <a:prstGeom prst="roundRect">
            <a:avLst>
              <a:gd name="adj" fmla="val 2037"/>
            </a:avLst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69848"/>
            <a:ext cx="1133856" cy="29260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06984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490472"/>
            <a:ext cx="4480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[PROMPT]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868680"/>
            <a:ext cx="5852160" cy="5212080"/>
          </a:xfrm>
          <a:prstGeom prst="roundRect">
            <a:avLst>
              <a:gd name="adj" fmla="val 1930"/>
            </a:avLst>
          </a:prstGeom>
          <a:solidFill>
            <a:srgbClr val="F7F7F5"/>
          </a:solidFill>
          <a:ln w="15875">
            <a:solidFill>
              <a:srgbClr val="9A9A93"/>
            </a:solidFill>
            <a:prstDash val="dash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7432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035040" y="35204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Captura del resultado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o pantalla compartida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PRÁCTICA GUIADA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MINUTO 60 AL 80 · INDIVIDUAL O EN PAREJAS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49040" cy="4160520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INSTRUCCIONES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tarea resuelve cada persona]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[Con qué herramienta]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entrega al final y dónde]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26280" y="1691640"/>
            <a:ext cx="4480560" cy="4160520"/>
          </a:xfrm>
          <a:prstGeom prst="roundRect">
            <a:avLst>
              <a:gd name="adj" fmla="val 2418"/>
            </a:avLst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892808"/>
            <a:ext cx="2290572" cy="29260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28032" y="1892808"/>
            <a:ext cx="2061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 DE PARTIDA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2313432"/>
            <a:ext cx="4023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[PROMPT DE PARTIDA. La persona lo copia y lo ajusta a su caso.]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235440" y="1691640"/>
            <a:ext cx="2404872" cy="4160520"/>
          </a:xfrm>
          <a:prstGeom prst="roundRect">
            <a:avLst>
              <a:gd name="adj" fmla="val 4183"/>
            </a:avLst>
          </a:prstGeom>
          <a:solidFill>
            <a:srgbClr val="0D0D0C"/>
          </a:solidFill>
          <a:ln w="15875">
            <a:solidFill>
              <a:srgbClr val="0D0D0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2011680"/>
            <a:ext cx="914400" cy="9144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235440" y="301752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[20]</a:t>
            </a:r>
            <a:endParaRPr lang="en-US" sz="7200" dirty="0"/>
          </a:p>
        </p:txBody>
      </p:sp>
      <p:sp>
        <p:nvSpPr>
          <p:cNvPr id="16" name="Text 12"/>
          <p:cNvSpPr txBox="1"/>
          <p:nvPr/>
        </p:nvSpPr>
        <p:spPr>
          <a:xfrm>
            <a:off x="9235440" y="40233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MINUTOS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9464040" y="452628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Al terminar, dos personas muestran su resultado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FORMATO «MI PROCESO»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LLENAS ENTRE HOY Y EL ENCUENTRO 2 · LO TRAES EL [FECHA E2]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 · LA TAREA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tarea tuya que se repite. Con nombre, área y cada cuánto la haces.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20574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 · CUÁNTO TOMA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2918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Mídela esta semana: minutos por vez y veces por semana.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127797" y="1783080"/>
            <a:ext cx="3515258" cy="30175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205740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02117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 · LA MEJORA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8402117" y="32918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parte podría apoyar la IA y qué resultado esperas.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66928" y="5221224"/>
            <a:ext cx="201168" cy="256032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2960" y="5120640"/>
            <a:ext cx="7772400" cy="457200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143000" y="512064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DÓNDE ESTÁ EL FORMATO: [ENLACE O SECCIÓN DE LA PLATAFORMA]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RETO DE LA SEMANA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66928" y="1380744"/>
            <a:ext cx="201168" cy="256032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80160"/>
            <a:ext cx="6035040" cy="45720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2801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JUEVES DE SUPERPODERES · RETO [NÚMERO DEL RETO]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[TEXTO DEL RETO EN UNA FRASE]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[Dos líneas con el detalle: qué herramienta, qué entregas y qué evidencia subes.]</a:t>
            </a:r>
            <a:endParaRPr lang="en-US" sz="17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0116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12480" y="1993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SUBE TU EVIDENCIA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3042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captura o un archivo en la plataforma, hasta el miércoles.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2918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0" y="32735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[PUNTOS RETO] PUNTOS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412480" y="35844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Suman al entregar. Sin calificación individual.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0" y="45537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CINCO MINUTOS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8412480" y="48646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Es una tarea corta. Si te toma más, pregúntalo en el consultorio.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CONSULTORIO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UNA HORA ABIERTA DE DUDAS, ENTRE LOS DOS ENCUENTROS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754880" cy="4114800"/>
          </a:xfrm>
          <a:prstGeom prst="roundRect">
            <a:avLst>
              <a:gd name="adj" fmla="val 2444"/>
            </a:avLst>
          </a:prstGeom>
          <a:solidFill>
            <a:srgbClr val="0D0D0C"/>
          </a:solidFill>
          <a:ln w="15875">
            <a:solidFill>
              <a:srgbClr val="0D0D0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260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CONSULTORIO]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4:00 a 5:00 p. m. · Teams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891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El enlace llega por correo y por WhatsApp desde Gestión Humana.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18105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TRAE UNA DUDA REAL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21214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Sobre la tarea que elegiste para «Mi proceso» o sobre el reto de la semana.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1089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75120" y="30906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ES ABIERTO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675120" y="34015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Entras y sales cuando quieras. Sin asistencia obligatoria y sin puntos.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38912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675120" y="43708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QUEDA GRABADO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675120" y="468172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 no puedes ir, ves la grabación al día siguiente en la plataforma.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SUMA HOY Y LO QUE SIGUE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[+00]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78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puntos por asistir al encuentro completo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645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[+00]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2578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puntos por el reto de la semana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645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[+00]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5786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puntos por entregar «Mi proceso»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2732456" cy="5029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8404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HOY · E1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165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Concepto y práctica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5960" y="3840480"/>
            <a:ext cx="2732456" cy="502920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4560" y="38404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CONSULTORIO]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35960" y="44165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Consultorio · 4:00 p. 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3280" y="3840480"/>
            <a:ext cx="2732456" cy="502920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1880" y="38404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E2]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23280" y="44165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Encuentro 2 · aplicación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10599" y="3840480"/>
            <a:ext cx="2732456" cy="502920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39199" y="38404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910599" y="44165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10 preguntas · una semana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12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Nos vemos el [FECHA E2]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GUÍA DE USO DE ESTA PLANTILLA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NOMBRE DEL ARCHIVO · SH_[PERFIL]_T[N]_E1_[AAAAMMDD]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840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Marcador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Qué va ahí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[PERFIL]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COM o ADM en el nombre del archivo; Comercial o Administrativo en el texto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Número del taller, 1 a 6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[NOMBRE DEL TALLER]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Del temario detallado, tal como está escrito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[CONCEPTO DEL MES]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El concepto de IA del mes, igual para los dos perfiles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[HÁBITO]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El hábito de apertura del taller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[CASO DE G&amp;J]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Caso de la guía de casos, con su número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[FECHA] [FECHA E2] [FECHA CONSULTORIO]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Con día de la semana: «viernes 9 de octubre»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[DOCENTE]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Nombre completo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[PUNTOS …]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Del manual de puntajes y reconocimiento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47688" y="1700784"/>
            <a:ext cx="201168" cy="256032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600200"/>
            <a:ext cx="4663440" cy="457200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600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REGLAS QUE NO CAMBIAN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Titulares en Barlow Condensed y en mayúsculas. Cuerpo en Atkinson Hyperlegible Next, en tipo oración.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Negro #0D0D0C y amarillo #FCC800. Sobre amarillo el texto va en negro. El amarillo como texto solo va sobre negro. Sobre blanco, el acento de texto es #8A6B00.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idea por diapositiva y máximo 60 palabras de cuerpo.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Sin logos de las empresas: la pieza sirve igual en las cinco compañías.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Pie de página: edítalo una sola vez en Vista &gt; Patrón de diapositivas.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 falta una fuente, PowerPoint usa Arial Narrow y Arial. Instala las dos fuentes antes de presentar.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Esta diapositiva y la biblioteca de íconos se borran antes de presentar.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BIBLIOTECA DE ÍCONOS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COPIA Y PEGA EL ÍCONO EN LA DIAPOSITIVA QUE LO NECESITE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68" y="1691640"/>
            <a:ext cx="566928" cy="5669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8" y="2304288"/>
            <a:ext cx="256032" cy="25603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52" y="2304288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chevron-right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51" y="1691640"/>
            <a:ext cx="566928" cy="56692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71" y="2304288"/>
            <a:ext cx="256032" cy="256032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235" y="2304288"/>
            <a:ext cx="256032" cy="25603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557223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chevron-left</a:t>
            </a:r>
            <a:endParaRPr lang="en-US" sz="9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6634" y="1691640"/>
            <a:ext cx="566928" cy="566928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2354" y="2304288"/>
            <a:ext cx="256032" cy="256032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5818" y="2304288"/>
            <a:ext cx="256032" cy="256032"/>
          </a:xfrm>
          <a:prstGeom prst="rect">
            <a:avLst/>
          </a:prstGeom>
        </p:spPr>
      </p:pic>
      <p:sp>
        <p:nvSpPr>
          <p:cNvPr id="16" name="Text 5"/>
          <p:cNvSpPr txBox="1"/>
          <p:nvPr/>
        </p:nvSpPr>
        <p:spPr>
          <a:xfrm>
            <a:off x="256580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chevrons-up</a:t>
            </a:r>
            <a:endParaRPr lang="en-US" sz="900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5217" y="1691640"/>
            <a:ext cx="566928" cy="566928"/>
          </a:xfrm>
          <a:prstGeom prst="rect">
            <a:avLst/>
          </a:prstGeom>
        </p:spPr>
      </p:pic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937" y="2304288"/>
            <a:ext cx="256032" cy="256032"/>
          </a:xfrm>
          <a:prstGeom prst="rect">
            <a:avLst/>
          </a:prstGeom>
        </p:spPr>
      </p:pic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4401" y="2304288"/>
            <a:ext cx="256032" cy="256032"/>
          </a:xfrm>
          <a:prstGeom prst="rect">
            <a:avLst/>
          </a:prstGeom>
        </p:spPr>
      </p:pic>
      <p:sp>
        <p:nvSpPr>
          <p:cNvPr id="20" name="Text 6"/>
          <p:cNvSpPr txBox="1"/>
          <p:nvPr/>
        </p:nvSpPr>
        <p:spPr>
          <a:xfrm>
            <a:off x="3574390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play</a:t>
            </a:r>
            <a:endParaRPr lang="en-US" sz="900" dirty="0"/>
          </a:p>
        </p:txBody>
      </p:sp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3800" y="1691640"/>
            <a:ext cx="566928" cy="566928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9520" y="2304288"/>
            <a:ext cx="256032" cy="25603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32984" y="2304288"/>
            <a:ext cx="256032" cy="256032"/>
          </a:xfrm>
          <a:prstGeom prst="rect">
            <a:avLst/>
          </a:prstGeom>
        </p:spPr>
      </p:pic>
      <p:sp>
        <p:nvSpPr>
          <p:cNvPr id="24" name="Text 7"/>
          <p:cNvSpPr txBox="1"/>
          <p:nvPr/>
        </p:nvSpPr>
        <p:spPr>
          <a:xfrm>
            <a:off x="4582973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live</a:t>
            </a:r>
            <a:endParaRPr lang="en-US" sz="900" dirty="0"/>
          </a:p>
        </p:txBody>
      </p:sp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pic>
        <p:nvPicPr>
          <p:cNvPr id="2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58104" y="2304288"/>
            <a:ext cx="256032" cy="256032"/>
          </a:xfrm>
          <a:prstGeom prst="rect">
            <a:avLst/>
          </a:prstGeom>
        </p:spPr>
      </p:pic>
      <p:pic>
        <p:nvPicPr>
          <p:cNvPr id="2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41568" y="2304288"/>
            <a:ext cx="256032" cy="256032"/>
          </a:xfrm>
          <a:prstGeom prst="rect">
            <a:avLst/>
          </a:prstGeom>
        </p:spPr>
      </p:pic>
      <p:sp>
        <p:nvSpPr>
          <p:cNvPr id="28" name="Text 8"/>
          <p:cNvSpPr txBox="1"/>
          <p:nvPr/>
        </p:nvSpPr>
        <p:spPr>
          <a:xfrm>
            <a:off x="559155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camera</a:t>
            </a:r>
            <a:endParaRPr lang="en-US" sz="900" dirty="0"/>
          </a:p>
        </p:txBody>
      </p:sp>
      <p:pic>
        <p:nvPicPr>
          <p:cNvPr id="2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20967" y="1691640"/>
            <a:ext cx="566928" cy="566928"/>
          </a:xfrm>
          <a:prstGeom prst="rect">
            <a:avLst/>
          </a:prstGeom>
        </p:spPr>
      </p:pic>
      <p:pic>
        <p:nvPicPr>
          <p:cNvPr id="3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66687" y="2304288"/>
            <a:ext cx="256032" cy="256032"/>
          </a:xfrm>
          <a:prstGeom prst="rect">
            <a:avLst/>
          </a:prstGeom>
        </p:spPr>
      </p:pic>
      <p:pic>
        <p:nvPicPr>
          <p:cNvPr id="3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50151" y="2304288"/>
            <a:ext cx="256032" cy="256032"/>
          </a:xfrm>
          <a:prstGeom prst="rect">
            <a:avLst/>
          </a:prstGeom>
        </p:spPr>
      </p:pic>
      <p:sp>
        <p:nvSpPr>
          <p:cNvPr id="32" name="Text 9"/>
          <p:cNvSpPr txBox="1"/>
          <p:nvPr/>
        </p:nvSpPr>
        <p:spPr>
          <a:xfrm>
            <a:off x="6600139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upload</a:t>
            </a:r>
            <a:endParaRPr lang="en-US" sz="900" dirty="0"/>
          </a:p>
        </p:txBody>
      </p:sp>
      <p:pic>
        <p:nvPicPr>
          <p:cNvPr id="3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29550" y="1691640"/>
            <a:ext cx="566928" cy="566928"/>
          </a:xfrm>
          <a:prstGeom prst="rect">
            <a:avLst/>
          </a:prstGeom>
        </p:spPr>
      </p:pic>
      <p:pic>
        <p:nvPicPr>
          <p:cNvPr id="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75270" y="2304288"/>
            <a:ext cx="256032" cy="256032"/>
          </a:xfrm>
          <a:prstGeom prst="rect">
            <a:avLst/>
          </a:prstGeom>
        </p:spPr>
      </p:pic>
      <p:pic>
        <p:nvPicPr>
          <p:cNvPr id="3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58734" y="2304288"/>
            <a:ext cx="256032" cy="256032"/>
          </a:xfrm>
          <a:prstGeom prst="rect">
            <a:avLst/>
          </a:prstGeom>
        </p:spPr>
      </p:pic>
      <p:sp>
        <p:nvSpPr>
          <p:cNvPr id="36" name="Text 10"/>
          <p:cNvSpPr txBox="1"/>
          <p:nvPr/>
        </p:nvSpPr>
        <p:spPr>
          <a:xfrm>
            <a:off x="7608722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check</a:t>
            </a:r>
            <a:endParaRPr lang="en-US" sz="900" dirty="0"/>
          </a:p>
        </p:txBody>
      </p:sp>
      <p:pic>
        <p:nvPicPr>
          <p:cNvPr id="3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38133" y="1691640"/>
            <a:ext cx="566928" cy="566928"/>
          </a:xfrm>
          <a:prstGeom prst="rect">
            <a:avLst/>
          </a:prstGeom>
        </p:spPr>
      </p:pic>
      <p:pic>
        <p:nvPicPr>
          <p:cNvPr id="3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83853" y="2304288"/>
            <a:ext cx="256032" cy="256032"/>
          </a:xfrm>
          <a:prstGeom prst="rect">
            <a:avLst/>
          </a:prstGeom>
        </p:spPr>
      </p:pic>
      <p:pic>
        <p:nvPicPr>
          <p:cNvPr id="3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67317" y="2304288"/>
            <a:ext cx="256032" cy="256032"/>
          </a:xfrm>
          <a:prstGeom prst="rect">
            <a:avLst/>
          </a:prstGeom>
        </p:spPr>
      </p:pic>
      <p:sp>
        <p:nvSpPr>
          <p:cNvPr id="40" name="Text 11"/>
          <p:cNvSpPr txBox="1"/>
          <p:nvPr/>
        </p:nvSpPr>
        <p:spPr>
          <a:xfrm>
            <a:off x="861730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clock</a:t>
            </a:r>
            <a:endParaRPr lang="en-US" sz="900" dirty="0"/>
          </a:p>
        </p:txBody>
      </p:sp>
      <p:pic>
        <p:nvPicPr>
          <p:cNvPr id="4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46716" y="1691640"/>
            <a:ext cx="566928" cy="566928"/>
          </a:xfrm>
          <a:prstGeom prst="rect">
            <a:avLst/>
          </a:prstGeom>
        </p:spPr>
      </p:pic>
      <p:pic>
        <p:nvPicPr>
          <p:cNvPr id="4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892436" y="2304288"/>
            <a:ext cx="256032" cy="256032"/>
          </a:xfrm>
          <a:prstGeom prst="rect">
            <a:avLst/>
          </a:prstGeom>
        </p:spPr>
      </p:pic>
      <p:pic>
        <p:nvPicPr>
          <p:cNvPr id="4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75900" y="2304288"/>
            <a:ext cx="256032" cy="256032"/>
          </a:xfrm>
          <a:prstGeom prst="rect">
            <a:avLst/>
          </a:prstGeom>
        </p:spPr>
      </p:pic>
      <p:sp>
        <p:nvSpPr>
          <p:cNvPr id="44" name="Text 12"/>
          <p:cNvSpPr txBox="1"/>
          <p:nvPr/>
        </p:nvSpPr>
        <p:spPr>
          <a:xfrm>
            <a:off x="9625889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calendar</a:t>
            </a:r>
            <a:endParaRPr lang="en-US" sz="900" dirty="0"/>
          </a:p>
        </p:txBody>
      </p:sp>
      <p:pic>
        <p:nvPicPr>
          <p:cNvPr id="4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855300" y="1691640"/>
            <a:ext cx="566928" cy="566928"/>
          </a:xfrm>
          <a:prstGeom prst="rect">
            <a:avLst/>
          </a:prstGeom>
        </p:spPr>
      </p:pic>
      <p:pic>
        <p:nvPicPr>
          <p:cNvPr id="4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901020" y="2304288"/>
            <a:ext cx="256032" cy="256032"/>
          </a:xfrm>
          <a:prstGeom prst="rect">
            <a:avLst/>
          </a:prstGeom>
        </p:spPr>
      </p:pic>
      <p:pic>
        <p:nvPicPr>
          <p:cNvPr id="4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184484" y="2304288"/>
            <a:ext cx="256032" cy="256032"/>
          </a:xfrm>
          <a:prstGeom prst="rect">
            <a:avLst/>
          </a:prstGeom>
        </p:spPr>
      </p:pic>
      <p:sp>
        <p:nvSpPr>
          <p:cNvPr id="48" name="Text 13"/>
          <p:cNvSpPr txBox="1"/>
          <p:nvPr/>
        </p:nvSpPr>
        <p:spPr>
          <a:xfrm>
            <a:off x="10634472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star</a:t>
            </a:r>
            <a:endParaRPr lang="en-US" sz="900" dirty="0"/>
          </a:p>
        </p:txBody>
      </p:sp>
      <p:pic>
        <p:nvPicPr>
          <p:cNvPr id="4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9468" y="3108960"/>
            <a:ext cx="566928" cy="566928"/>
          </a:xfrm>
          <a:prstGeom prst="rect">
            <a:avLst/>
          </a:prstGeom>
        </p:spPr>
      </p:pic>
      <p:pic>
        <p:nvPicPr>
          <p:cNvPr id="5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5188" y="3721608"/>
            <a:ext cx="256032" cy="256032"/>
          </a:xfrm>
          <a:prstGeom prst="rect">
            <a:avLst/>
          </a:prstGeom>
        </p:spPr>
      </p:pic>
      <p:pic>
        <p:nvPicPr>
          <p:cNvPr id="5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98652" y="3721608"/>
            <a:ext cx="256032" cy="256032"/>
          </a:xfrm>
          <a:prstGeom prst="rect">
            <a:avLst/>
          </a:prstGeom>
        </p:spPr>
      </p:pic>
      <p:sp>
        <p:nvSpPr>
          <p:cNvPr id="52" name="Text 14"/>
          <p:cNvSpPr txBox="1"/>
          <p:nvPr/>
        </p:nvSpPr>
        <p:spPr>
          <a:xfrm>
            <a:off x="548640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trophy</a:t>
            </a:r>
            <a:endParaRPr lang="en-US" sz="900" dirty="0"/>
          </a:p>
        </p:txBody>
      </p:sp>
      <p:pic>
        <p:nvPicPr>
          <p:cNvPr id="53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78051" y="3108960"/>
            <a:ext cx="566928" cy="566928"/>
          </a:xfrm>
          <a:prstGeom prst="rect">
            <a:avLst/>
          </a:prstGeom>
        </p:spPr>
      </p:pic>
      <p:pic>
        <p:nvPicPr>
          <p:cNvPr id="54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823771" y="3721608"/>
            <a:ext cx="256032" cy="256032"/>
          </a:xfrm>
          <a:prstGeom prst="rect">
            <a:avLst/>
          </a:prstGeom>
        </p:spPr>
      </p:pic>
      <p:pic>
        <p:nvPicPr>
          <p:cNvPr id="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107235" y="3721608"/>
            <a:ext cx="256032" cy="256032"/>
          </a:xfrm>
          <a:prstGeom prst="rect">
            <a:avLst/>
          </a:prstGeom>
        </p:spPr>
      </p:pic>
      <p:sp>
        <p:nvSpPr>
          <p:cNvPr id="56" name="Text 15"/>
          <p:cNvSpPr txBox="1"/>
          <p:nvPr/>
        </p:nvSpPr>
        <p:spPr>
          <a:xfrm>
            <a:off x="1557223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home</a:t>
            </a:r>
            <a:endParaRPr lang="en-US" sz="900" dirty="0"/>
          </a:p>
        </p:txBody>
      </p:sp>
      <p:pic>
        <p:nvPicPr>
          <p:cNvPr id="5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786634" y="3108960"/>
            <a:ext cx="566928" cy="566928"/>
          </a:xfrm>
          <a:prstGeom prst="rect">
            <a:avLst/>
          </a:prstGeom>
        </p:spPr>
      </p:pic>
      <p:pic>
        <p:nvPicPr>
          <p:cNvPr id="5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832354" y="3721608"/>
            <a:ext cx="256032" cy="256032"/>
          </a:xfrm>
          <a:prstGeom prst="rect">
            <a:avLst/>
          </a:prstGeom>
        </p:spPr>
      </p:pic>
      <p:pic>
        <p:nvPicPr>
          <p:cNvPr id="59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115818" y="3721608"/>
            <a:ext cx="256032" cy="256032"/>
          </a:xfrm>
          <a:prstGeom prst="rect">
            <a:avLst/>
          </a:prstGeom>
        </p:spPr>
      </p:pic>
      <p:sp>
        <p:nvSpPr>
          <p:cNvPr id="60" name="Text 16"/>
          <p:cNvSpPr txBox="1"/>
          <p:nvPr/>
        </p:nvSpPr>
        <p:spPr>
          <a:xfrm>
            <a:off x="256580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route</a:t>
            </a:r>
            <a:endParaRPr lang="en-US" sz="900" dirty="0"/>
          </a:p>
        </p:txBody>
      </p:sp>
      <p:pic>
        <p:nvPicPr>
          <p:cNvPr id="61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95217" y="3108960"/>
            <a:ext cx="566928" cy="566928"/>
          </a:xfrm>
          <a:prstGeom prst="rect">
            <a:avLst/>
          </a:prstGeom>
        </p:spPr>
      </p:pic>
      <p:pic>
        <p:nvPicPr>
          <p:cNvPr id="62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40937" y="3721608"/>
            <a:ext cx="256032" cy="256032"/>
          </a:xfrm>
          <a:prstGeom prst="rect">
            <a:avLst/>
          </a:prstGeom>
        </p:spPr>
      </p:pic>
      <p:pic>
        <p:nvPicPr>
          <p:cNvPr id="63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124401" y="3721608"/>
            <a:ext cx="256032" cy="256032"/>
          </a:xfrm>
          <a:prstGeom prst="rect">
            <a:avLst/>
          </a:prstGeom>
        </p:spPr>
      </p:pic>
      <p:sp>
        <p:nvSpPr>
          <p:cNvPr id="64" name="Text 17"/>
          <p:cNvSpPr txBox="1"/>
          <p:nvPr/>
        </p:nvSpPr>
        <p:spPr>
          <a:xfrm>
            <a:off x="3574390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</a:t>
            </a:r>
            <a:endParaRPr lang="en-US" sz="900" dirty="0"/>
          </a:p>
        </p:txBody>
      </p:sp>
      <p:pic>
        <p:nvPicPr>
          <p:cNvPr id="65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803800" y="3108960"/>
            <a:ext cx="566928" cy="566928"/>
          </a:xfrm>
          <a:prstGeom prst="rect">
            <a:avLst/>
          </a:prstGeom>
        </p:spPr>
      </p:pic>
      <p:pic>
        <p:nvPicPr>
          <p:cNvPr id="6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849520" y="3721608"/>
            <a:ext cx="256032" cy="256032"/>
          </a:xfrm>
          <a:prstGeom prst="rect">
            <a:avLst/>
          </a:prstGeom>
        </p:spPr>
      </p:pic>
      <p:pic>
        <p:nvPicPr>
          <p:cNvPr id="67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132984" y="3721608"/>
            <a:ext cx="256032" cy="256032"/>
          </a:xfrm>
          <a:prstGeom prst="rect">
            <a:avLst/>
          </a:prstGeom>
        </p:spPr>
      </p:pic>
      <p:sp>
        <p:nvSpPr>
          <p:cNvPr id="68" name="Text 18"/>
          <p:cNvSpPr txBox="1"/>
          <p:nvPr/>
        </p:nvSpPr>
        <p:spPr>
          <a:xfrm>
            <a:off x="4582973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users</a:t>
            </a:r>
            <a:endParaRPr lang="en-US" sz="900" dirty="0"/>
          </a:p>
        </p:txBody>
      </p:sp>
      <p:pic>
        <p:nvPicPr>
          <p:cNvPr id="69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812384" y="3108960"/>
            <a:ext cx="566928" cy="566928"/>
          </a:xfrm>
          <a:prstGeom prst="rect">
            <a:avLst/>
          </a:prstGeom>
        </p:spPr>
      </p:pic>
      <p:pic>
        <p:nvPicPr>
          <p:cNvPr id="70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858104" y="3721608"/>
            <a:ext cx="256032" cy="256032"/>
          </a:xfrm>
          <a:prstGeom prst="rect">
            <a:avLst/>
          </a:prstGeom>
        </p:spPr>
      </p:pic>
      <p:pic>
        <p:nvPicPr>
          <p:cNvPr id="71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141568" y="3721608"/>
            <a:ext cx="256032" cy="256032"/>
          </a:xfrm>
          <a:prstGeom prst="rect">
            <a:avLst/>
          </a:prstGeom>
        </p:spPr>
      </p:pic>
      <p:sp>
        <p:nvSpPr>
          <p:cNvPr id="72" name="Text 19"/>
          <p:cNvSpPr txBox="1"/>
          <p:nvPr/>
        </p:nvSpPr>
        <p:spPr>
          <a:xfrm>
            <a:off x="559155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alert</a:t>
            </a:r>
            <a:endParaRPr lang="en-US" sz="900" dirty="0"/>
          </a:p>
        </p:txBody>
      </p:sp>
      <p:pic>
        <p:nvPicPr>
          <p:cNvPr id="7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820967" y="3108960"/>
            <a:ext cx="566928" cy="566928"/>
          </a:xfrm>
          <a:prstGeom prst="rect">
            <a:avLst/>
          </a:prstGeom>
        </p:spPr>
      </p:pic>
      <p:pic>
        <p:nvPicPr>
          <p:cNvPr id="7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866687" y="3721608"/>
            <a:ext cx="256032" cy="256032"/>
          </a:xfrm>
          <a:prstGeom prst="rect">
            <a:avLst/>
          </a:prstGeom>
        </p:spPr>
      </p:pic>
      <p:pic>
        <p:nvPicPr>
          <p:cNvPr id="7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150151" y="3721608"/>
            <a:ext cx="256032" cy="256032"/>
          </a:xfrm>
          <a:prstGeom prst="rect">
            <a:avLst/>
          </a:prstGeom>
        </p:spPr>
      </p:pic>
      <p:sp>
        <p:nvSpPr>
          <p:cNvPr id="76" name="Text 20"/>
          <p:cNvSpPr txBox="1"/>
          <p:nvPr/>
        </p:nvSpPr>
        <p:spPr>
          <a:xfrm>
            <a:off x="6600139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info</a:t>
            </a:r>
            <a:endParaRPr lang="en-US" sz="900" dirty="0"/>
          </a:p>
        </p:txBody>
      </p:sp>
      <p:pic>
        <p:nvPicPr>
          <p:cNvPr id="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829550" y="3108960"/>
            <a:ext cx="566928" cy="566928"/>
          </a:xfrm>
          <a:prstGeom prst="rect">
            <a:avLst/>
          </a:prstGeom>
        </p:spPr>
      </p:pic>
      <p:pic>
        <p:nvPicPr>
          <p:cNvPr id="7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875270" y="3721608"/>
            <a:ext cx="256032" cy="256032"/>
          </a:xfrm>
          <a:prstGeom prst="rect">
            <a:avLst/>
          </a:prstGeom>
        </p:spPr>
      </p:pic>
      <p:pic>
        <p:nvPicPr>
          <p:cNvPr id="79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158734" y="3721608"/>
            <a:ext cx="256032" cy="256032"/>
          </a:xfrm>
          <a:prstGeom prst="rect">
            <a:avLst/>
          </a:prstGeom>
        </p:spPr>
      </p:pic>
      <p:sp>
        <p:nvSpPr>
          <p:cNvPr id="80" name="Text 21"/>
          <p:cNvSpPr txBox="1"/>
          <p:nvPr/>
        </p:nvSpPr>
        <p:spPr>
          <a:xfrm>
            <a:off x="7608722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wifi-off</a:t>
            </a:r>
            <a:endParaRPr lang="en-US" sz="900" dirty="0"/>
          </a:p>
        </p:txBody>
      </p:sp>
      <p:pic>
        <p:nvPicPr>
          <p:cNvPr id="81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838133" y="3108960"/>
            <a:ext cx="566928" cy="566928"/>
          </a:xfrm>
          <a:prstGeom prst="rect">
            <a:avLst/>
          </a:prstGeom>
        </p:spPr>
      </p:pic>
      <p:pic>
        <p:nvPicPr>
          <p:cNvPr id="82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883853" y="3721608"/>
            <a:ext cx="256032" cy="256032"/>
          </a:xfrm>
          <a:prstGeom prst="rect">
            <a:avLst/>
          </a:prstGeom>
        </p:spPr>
      </p:pic>
      <p:pic>
        <p:nvPicPr>
          <p:cNvPr id="8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167317" y="3721608"/>
            <a:ext cx="256032" cy="256032"/>
          </a:xfrm>
          <a:prstGeom prst="rect">
            <a:avLst/>
          </a:prstGeom>
        </p:spPr>
      </p:pic>
      <p:sp>
        <p:nvSpPr>
          <p:cNvPr id="84" name="Text 22"/>
          <p:cNvSpPr txBox="1"/>
          <p:nvPr/>
        </p:nvSpPr>
        <p:spPr>
          <a:xfrm>
            <a:off x="861730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close</a:t>
            </a:r>
            <a:endParaRPr lang="en-US" sz="900" dirty="0"/>
          </a:p>
        </p:txBody>
      </p:sp>
      <p:pic>
        <p:nvPicPr>
          <p:cNvPr id="85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846716" y="3108960"/>
            <a:ext cx="566928" cy="566928"/>
          </a:xfrm>
          <a:prstGeom prst="rect">
            <a:avLst/>
          </a:prstGeom>
        </p:spPr>
      </p:pic>
      <p:pic>
        <p:nvPicPr>
          <p:cNvPr id="86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892436" y="3721608"/>
            <a:ext cx="256032" cy="256032"/>
          </a:xfrm>
          <a:prstGeom prst="rect">
            <a:avLst/>
          </a:prstGeom>
        </p:spPr>
      </p:pic>
      <p:pic>
        <p:nvPicPr>
          <p:cNvPr id="87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175900" y="3721608"/>
            <a:ext cx="256032" cy="256032"/>
          </a:xfrm>
          <a:prstGeom prst="rect">
            <a:avLst/>
          </a:prstGeom>
        </p:spPr>
      </p:pic>
      <p:sp>
        <p:nvSpPr>
          <p:cNvPr id="88" name="Text 23"/>
          <p:cNvSpPr txBox="1"/>
          <p:nvPr/>
        </p:nvSpPr>
        <p:spPr>
          <a:xfrm>
            <a:off x="9625889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bulb</a:t>
            </a:r>
            <a:endParaRPr lang="en-US" sz="900" dirty="0"/>
          </a:p>
        </p:txBody>
      </p:sp>
      <p:pic>
        <p:nvPicPr>
          <p:cNvPr id="8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855300" y="3108960"/>
            <a:ext cx="566928" cy="566928"/>
          </a:xfrm>
          <a:prstGeom prst="rect">
            <a:avLst/>
          </a:prstGeom>
        </p:spPr>
      </p:pic>
      <p:pic>
        <p:nvPicPr>
          <p:cNvPr id="90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901020" y="3721608"/>
            <a:ext cx="256032" cy="256032"/>
          </a:xfrm>
          <a:prstGeom prst="rect">
            <a:avLst/>
          </a:prstGeom>
        </p:spPr>
      </p:pic>
      <p:pic>
        <p:nvPicPr>
          <p:cNvPr id="91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184484" y="3721608"/>
            <a:ext cx="256032" cy="256032"/>
          </a:xfrm>
          <a:prstGeom prst="rect">
            <a:avLst/>
          </a:prstGeom>
        </p:spPr>
      </p:pic>
      <p:sp>
        <p:nvSpPr>
          <p:cNvPr id="92" name="Text 24"/>
          <p:cNvSpPr txBox="1"/>
          <p:nvPr/>
        </p:nvSpPr>
        <p:spPr>
          <a:xfrm>
            <a:off x="10634472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rocket</a:t>
            </a:r>
            <a:endParaRPr lang="en-US" sz="900" dirty="0"/>
          </a:p>
        </p:txBody>
      </p:sp>
      <p:pic>
        <p:nvPicPr>
          <p:cNvPr id="93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69468" y="4526280"/>
            <a:ext cx="566928" cy="566928"/>
          </a:xfrm>
          <a:prstGeom prst="rect">
            <a:avLst/>
          </a:prstGeom>
        </p:spPr>
      </p:pic>
      <p:pic>
        <p:nvPicPr>
          <p:cNvPr id="9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15188" y="5138928"/>
            <a:ext cx="256032" cy="256032"/>
          </a:xfrm>
          <a:prstGeom prst="rect">
            <a:avLst/>
          </a:prstGeom>
        </p:spPr>
      </p:pic>
      <p:pic>
        <p:nvPicPr>
          <p:cNvPr id="95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098652" y="5138928"/>
            <a:ext cx="256032" cy="256032"/>
          </a:xfrm>
          <a:prstGeom prst="rect">
            <a:avLst/>
          </a:prstGeom>
        </p:spPr>
      </p:pic>
      <p:sp>
        <p:nvSpPr>
          <p:cNvPr id="96" name="Text 25"/>
          <p:cNvSpPr txBox="1"/>
          <p:nvPr/>
        </p:nvSpPr>
        <p:spPr>
          <a:xfrm>
            <a:off x="548640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tool</a:t>
            </a:r>
            <a:endParaRPr lang="en-US" sz="900" dirty="0"/>
          </a:p>
        </p:txBody>
      </p:sp>
      <p:pic>
        <p:nvPicPr>
          <p:cNvPr id="97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778051" y="4526280"/>
            <a:ext cx="566928" cy="566928"/>
          </a:xfrm>
          <a:prstGeom prst="rect">
            <a:avLst/>
          </a:prstGeom>
        </p:spPr>
      </p:pic>
      <p:pic>
        <p:nvPicPr>
          <p:cNvPr id="98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823771" y="5138928"/>
            <a:ext cx="256032" cy="256032"/>
          </a:xfrm>
          <a:prstGeom prst="rect">
            <a:avLst/>
          </a:prstGeom>
        </p:spPr>
      </p:pic>
      <p:pic>
        <p:nvPicPr>
          <p:cNvPr id="99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107235" y="5138928"/>
            <a:ext cx="256032" cy="256032"/>
          </a:xfrm>
          <a:prstGeom prst="rect">
            <a:avLst/>
          </a:prstGeom>
        </p:spPr>
      </p:pic>
      <p:sp>
        <p:nvSpPr>
          <p:cNvPr id="100" name="Text 26"/>
          <p:cNvSpPr txBox="1"/>
          <p:nvPr/>
        </p:nvSpPr>
        <p:spPr>
          <a:xfrm>
            <a:off x="1557223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clipboard</a:t>
            </a:r>
            <a:endParaRPr lang="en-US" sz="900" dirty="0"/>
          </a:p>
        </p:txBody>
      </p:sp>
      <p:pic>
        <p:nvPicPr>
          <p:cNvPr id="101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786634" y="4526280"/>
            <a:ext cx="566928" cy="566928"/>
          </a:xfrm>
          <a:prstGeom prst="rect">
            <a:avLst/>
          </a:prstGeom>
        </p:spPr>
      </p:pic>
      <p:pic>
        <p:nvPicPr>
          <p:cNvPr id="102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832354" y="5138928"/>
            <a:ext cx="256032" cy="256032"/>
          </a:xfrm>
          <a:prstGeom prst="rect">
            <a:avLst/>
          </a:prstGeom>
        </p:spPr>
      </p:pic>
      <p:pic>
        <p:nvPicPr>
          <p:cNvPr id="103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115818" y="5138928"/>
            <a:ext cx="256032" cy="256032"/>
          </a:xfrm>
          <a:prstGeom prst="rect">
            <a:avLst/>
          </a:prstGeom>
        </p:spPr>
      </p:pic>
      <p:sp>
        <p:nvSpPr>
          <p:cNvPr id="104" name="Text 27"/>
          <p:cNvSpPr txBox="1"/>
          <p:nvPr/>
        </p:nvSpPr>
        <p:spPr>
          <a:xfrm>
            <a:off x="256580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chat</a:t>
            </a:r>
            <a:endParaRPr lang="en-US" sz="900" dirty="0"/>
          </a:p>
        </p:txBody>
      </p:sp>
      <p:pic>
        <p:nvPicPr>
          <p:cNvPr id="105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3795217" y="4526280"/>
            <a:ext cx="566928" cy="566928"/>
          </a:xfrm>
          <a:prstGeom prst="rect">
            <a:avLst/>
          </a:prstGeom>
        </p:spPr>
      </p:pic>
      <p:pic>
        <p:nvPicPr>
          <p:cNvPr id="10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3840937" y="5138928"/>
            <a:ext cx="256032" cy="256032"/>
          </a:xfrm>
          <a:prstGeom prst="rect">
            <a:avLst/>
          </a:prstGeom>
        </p:spPr>
      </p:pic>
      <p:pic>
        <p:nvPicPr>
          <p:cNvPr id="107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124401" y="5138928"/>
            <a:ext cx="256032" cy="256032"/>
          </a:xfrm>
          <a:prstGeom prst="rect">
            <a:avLst/>
          </a:prstGeom>
        </p:spPr>
      </p:pic>
      <p:sp>
        <p:nvSpPr>
          <p:cNvPr id="108" name="Text 28"/>
          <p:cNvSpPr txBox="1"/>
          <p:nvPr/>
        </p:nvSpPr>
        <p:spPr>
          <a:xfrm>
            <a:off x="3574390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lock</a:t>
            </a:r>
            <a:endParaRPr lang="en-US" sz="900" dirty="0"/>
          </a:p>
        </p:txBody>
      </p:sp>
      <p:pic>
        <p:nvPicPr>
          <p:cNvPr id="109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4803800" y="4526280"/>
            <a:ext cx="566928" cy="566928"/>
          </a:xfrm>
          <a:prstGeom prst="rect">
            <a:avLst/>
          </a:prstGeom>
        </p:spPr>
      </p:pic>
      <p:pic>
        <p:nvPicPr>
          <p:cNvPr id="110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4849520" y="5138928"/>
            <a:ext cx="256032" cy="256032"/>
          </a:xfrm>
          <a:prstGeom prst="rect">
            <a:avLst/>
          </a:prstGeom>
        </p:spPr>
      </p:pic>
      <p:pic>
        <p:nvPicPr>
          <p:cNvPr id="111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5132984" y="5138928"/>
            <a:ext cx="256032" cy="256032"/>
          </a:xfrm>
          <a:prstGeom prst="rect">
            <a:avLst/>
          </a:prstGeom>
        </p:spPr>
      </p:pic>
      <p:sp>
        <p:nvSpPr>
          <p:cNvPr id="112" name="Text 29"/>
          <p:cNvSpPr txBox="1"/>
          <p:nvPr/>
        </p:nvSpPr>
        <p:spPr>
          <a:xfrm>
            <a:off x="4582973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refresh</a:t>
            </a:r>
            <a:endParaRPr lang="en-US" sz="900" dirty="0"/>
          </a:p>
        </p:txBody>
      </p:sp>
      <p:pic>
        <p:nvPicPr>
          <p:cNvPr id="113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5812384" y="4526280"/>
            <a:ext cx="566928" cy="566928"/>
          </a:xfrm>
          <a:prstGeom prst="rect">
            <a:avLst/>
          </a:prstGeom>
        </p:spPr>
      </p:pic>
      <p:pic>
        <p:nvPicPr>
          <p:cNvPr id="114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5858104" y="5138928"/>
            <a:ext cx="256032" cy="256032"/>
          </a:xfrm>
          <a:prstGeom prst="rect">
            <a:avLst/>
          </a:prstGeom>
        </p:spPr>
      </p:pic>
      <p:pic>
        <p:nvPicPr>
          <p:cNvPr id="115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6141568" y="5138928"/>
            <a:ext cx="256032" cy="256032"/>
          </a:xfrm>
          <a:prstGeom prst="rect">
            <a:avLst/>
          </a:prstGeom>
        </p:spPr>
      </p:pic>
      <p:sp>
        <p:nvSpPr>
          <p:cNvPr id="116" name="Text 30"/>
          <p:cNvSpPr txBox="1"/>
          <p:nvPr/>
        </p:nvSpPr>
        <p:spPr>
          <a:xfrm>
            <a:off x="559155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id-card</a:t>
            </a:r>
            <a:endParaRPr lang="en-US" sz="900" dirty="0"/>
          </a:p>
        </p:txBody>
      </p:sp>
      <p:pic>
        <p:nvPicPr>
          <p:cNvPr id="117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6820967" y="4526280"/>
            <a:ext cx="566928" cy="566928"/>
          </a:xfrm>
          <a:prstGeom prst="rect">
            <a:avLst/>
          </a:prstGeom>
        </p:spPr>
      </p:pic>
      <p:pic>
        <p:nvPicPr>
          <p:cNvPr id="118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6866687" y="5138928"/>
            <a:ext cx="256032" cy="256032"/>
          </a:xfrm>
          <a:prstGeom prst="rect">
            <a:avLst/>
          </a:prstGeom>
        </p:spPr>
      </p:pic>
      <p:pic>
        <p:nvPicPr>
          <p:cNvPr id="119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150151" y="5138928"/>
            <a:ext cx="256032" cy="256032"/>
          </a:xfrm>
          <a:prstGeom prst="rect">
            <a:avLst/>
          </a:prstGeom>
        </p:spPr>
      </p:pic>
      <p:sp>
        <p:nvSpPr>
          <p:cNvPr id="120" name="Text 31"/>
          <p:cNvSpPr txBox="1"/>
          <p:nvPr/>
        </p:nvSpPr>
        <p:spPr>
          <a:xfrm>
            <a:off x="6600139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circle-empty</a:t>
            </a:r>
            <a:endParaRPr lang="en-US" sz="900" dirty="0"/>
          </a:p>
        </p:txBody>
      </p:sp>
      <p:pic>
        <p:nvPicPr>
          <p:cNvPr id="121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7829550" y="4526280"/>
            <a:ext cx="566928" cy="566928"/>
          </a:xfrm>
          <a:prstGeom prst="rect">
            <a:avLst/>
          </a:prstGeom>
        </p:spPr>
      </p:pic>
      <p:pic>
        <p:nvPicPr>
          <p:cNvPr id="12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7875270" y="5138928"/>
            <a:ext cx="256032" cy="256032"/>
          </a:xfrm>
          <a:prstGeom prst="rect">
            <a:avLst/>
          </a:prstGeom>
        </p:spPr>
      </p:pic>
      <p:pic>
        <p:nvPicPr>
          <p:cNvPr id="123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158734" y="5138928"/>
            <a:ext cx="256032" cy="256032"/>
          </a:xfrm>
          <a:prstGeom prst="rect">
            <a:avLst/>
          </a:prstGeom>
        </p:spPr>
      </p:pic>
      <p:sp>
        <p:nvSpPr>
          <p:cNvPr id="124" name="Text 32"/>
          <p:cNvSpPr txBox="1"/>
          <p:nvPr/>
        </p:nvSpPr>
        <p:spPr>
          <a:xfrm>
            <a:off x="7608722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circle-half</a:t>
            </a:r>
            <a:endParaRPr lang="en-US" sz="900" dirty="0"/>
          </a:p>
        </p:txBody>
      </p:sp>
      <p:pic>
        <p:nvPicPr>
          <p:cNvPr id="125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838133" y="4526280"/>
            <a:ext cx="566928" cy="566928"/>
          </a:xfrm>
          <a:prstGeom prst="rect">
            <a:avLst/>
          </a:prstGeom>
        </p:spPr>
      </p:pic>
      <p:pic>
        <p:nvPicPr>
          <p:cNvPr id="126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883853" y="5138928"/>
            <a:ext cx="256032" cy="256032"/>
          </a:xfrm>
          <a:prstGeom prst="rect">
            <a:avLst/>
          </a:prstGeom>
        </p:spPr>
      </p:pic>
      <p:pic>
        <p:nvPicPr>
          <p:cNvPr id="127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167317" y="5138928"/>
            <a:ext cx="256032" cy="256032"/>
          </a:xfrm>
          <a:prstGeom prst="rect">
            <a:avLst/>
          </a:prstGeom>
        </p:spPr>
      </p:pic>
      <p:sp>
        <p:nvSpPr>
          <p:cNvPr id="128" name="Text 33"/>
          <p:cNvSpPr txBox="1"/>
          <p:nvPr/>
        </p:nvSpPr>
        <p:spPr>
          <a:xfrm>
            <a:off x="861730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circle-check</a:t>
            </a:r>
            <a:endParaRPr lang="en-US" sz="900" dirty="0"/>
          </a:p>
        </p:txBody>
      </p:sp>
      <p:pic>
        <p:nvPicPr>
          <p:cNvPr id="129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9846716" y="4526280"/>
            <a:ext cx="566928" cy="566928"/>
          </a:xfrm>
          <a:prstGeom prst="rect">
            <a:avLst/>
          </a:prstGeom>
        </p:spPr>
      </p:pic>
      <p:pic>
        <p:nvPicPr>
          <p:cNvPr id="130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9892436" y="5138928"/>
            <a:ext cx="256032" cy="256032"/>
          </a:xfrm>
          <a:prstGeom prst="rect">
            <a:avLst/>
          </a:prstGeom>
        </p:spPr>
      </p:pic>
      <p:pic>
        <p:nvPicPr>
          <p:cNvPr id="131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0175900" y="5138928"/>
            <a:ext cx="256032" cy="256032"/>
          </a:xfrm>
          <a:prstGeom prst="rect">
            <a:avLst/>
          </a:prstGeom>
        </p:spPr>
      </p:pic>
      <p:sp>
        <p:nvSpPr>
          <p:cNvPr id="132" name="Text 34"/>
          <p:cNvSpPr txBox="1"/>
          <p:nvPr/>
        </p:nvSpPr>
        <p:spPr>
          <a:xfrm>
            <a:off x="9625889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menu</a:t>
            </a:r>
            <a:endParaRPr lang="en-US" sz="900" dirty="0"/>
          </a:p>
        </p:txBody>
      </p:sp>
      <p:pic>
        <p:nvPicPr>
          <p:cNvPr id="133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10855300" y="4526280"/>
            <a:ext cx="566928" cy="566928"/>
          </a:xfrm>
          <a:prstGeom prst="rect">
            <a:avLst/>
          </a:prstGeom>
        </p:spPr>
      </p:pic>
      <p:pic>
        <p:nvPicPr>
          <p:cNvPr id="134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10901020" y="5138928"/>
            <a:ext cx="256032" cy="256032"/>
          </a:xfrm>
          <a:prstGeom prst="rect">
            <a:avLst/>
          </a:prstGeom>
        </p:spPr>
      </p:pic>
      <p:pic>
        <p:nvPicPr>
          <p:cNvPr id="135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11184484" y="5138928"/>
            <a:ext cx="256032" cy="256032"/>
          </a:xfrm>
          <a:prstGeom prst="rect">
            <a:avLst/>
          </a:prstGeom>
        </p:spPr>
      </p:pic>
      <p:sp>
        <p:nvSpPr>
          <p:cNvPr id="136" name="Text 35"/>
          <p:cNvSpPr txBox="1"/>
          <p:nvPr/>
        </p:nvSpPr>
        <p:spPr>
          <a:xfrm>
            <a:off x="10634472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medal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Pivot · Super Humanos">
  <a:themeElements>
    <a:clrScheme name="Campus Pivot · Super Humanos">
      <a:dk1>
        <a:srgbClr val="0D0D0C"/>
      </a:dk1>
      <a:lt1>
        <a:srgbClr val="FFFFFF"/>
      </a:lt1>
      <a:dk2>
        <a:srgbClr val="3D3D38"/>
      </a:dk2>
      <a:lt2>
        <a:srgbClr val="F7F7F5"/>
      </a:lt2>
      <a:accent1>
        <a:srgbClr val="FCC800"/>
      </a:accent1>
      <a:accent2>
        <a:srgbClr val="8A6B00"/>
      </a:accent2>
      <a:accent3>
        <a:srgbClr val="56564F"/>
      </a:accent3>
      <a:accent4>
        <a:srgbClr val="15702F"/>
      </a:accent4>
      <a:accent5>
        <a:srgbClr val="1D5FBF"/>
      </a:accent5>
      <a:accent6>
        <a:srgbClr val="B54708"/>
      </a:accent6>
      <a:hlink>
        <a:srgbClr val="0D0D0C"/>
      </a:hlink>
      <a:folHlink>
        <a:srgbClr val="56564F"/>
      </a:folHlink>
    </a:clrScheme>
    <a:fontScheme name="Campus Pivot · Super Humanos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tkinson Hyperlegible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Pivot Power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taller · Encuentro 1 · concepto y práctica</dc:title>
  <dc:subject>PptxGenJS Presentation</dc:subject>
  <dc:creator>Pivot Power</dc:creator>
  <cp:lastModifiedBy>Pivot Power</cp:lastModifiedBy>
  <cp:revision>1</cp:revision>
  <dcterms:created xsi:type="dcterms:W3CDTF">2026-10-03T13:07:37Z</dcterms:created>
  <dcterms:modified xsi:type="dcterms:W3CDTF">2026-10-03T13:07:37Z</dcterms:modified>
</cp:coreProperties>
</file>