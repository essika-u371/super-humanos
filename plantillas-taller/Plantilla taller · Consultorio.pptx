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nsultorio" id="{ba8fb449-e0da-e47e-156e-d06cfcb7ab7d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Portada del consultorio. Cambia los marcadores. La hora es fija: 4:00 a 5:00 p. m. Si cambia la regla, cámbiala aquí y en la diapositiva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qué sirve. Tres razones para venir y la tarjeta negra con lo que el consultorio no exige. Este contenido no cambia entre talleres.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del consultorio. Los minutos son orientativos: la hora se adapta a las dudas que lleguen.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Preguntas de apertura. Tres como máximo. Escríbelas para el taller: las de la plantilla son ejemplos.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Tablero de dudas. Se llena en vivo. Cada estado lleva palabra e ícono, sin depender del color. Si hay más de seis dudas, duplica la diapositiva.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Resolución en vivo. Cambia el texto del antetítulo por la duda que estás resolviendo y comparte pantalla. El recuadro punteado es solo una guía.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con el prompt visible arriba, para que la gente lo copie mientras el docente lo prueba.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Avance de Mi proceso. La tarjeta resaltada en amarillo claro es donde debería ir la mayoría hoy. Muévela según el calendario del taller.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Errores frecuentes. Entre tres y cuatro, del apartado «Lo que el docente debe vigilar» del temario. Cada error va con qué hacer en cambio.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Cierre. Tres cosas que la persona trae al encuentro 2 y la fecha en grande.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Última diapositiva de la plantilla. Se borra antes de presentar. Nombre del archivo: SH_[PERFIL]_T[N]_C_[AAAAMMDD]. El pie de página se edita una sola vez por archivo en Vista &gt; Patrón de diapositivas.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Treinta y tres íconos del sistema Campus Pivot en tres variantes: círculo negro con trazo amarillo, trazo negro suelto y círculo amarillo con trazo negro. Son imágenes PNG de 512 px. El sprite SVG original vive en el design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0D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CION">
    <p:bg>
      <p:bgPr>
        <a:solidFill>
          <a:srgbClr val="0D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accent1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CLAR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Título de la diapositiva</a:t>
            </a: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Super Humanos · [PERFIL] · Taller [N] · Consultorio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2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_OSCURO">
    <p:bg>
      <p:bgPr>
        <a:solidFill>
          <a:srgbClr val="0D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accent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Título de la diapositiva</a:t>
            </a: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Super Humanos · [PERFIL] · Taller [N] · Consultorio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accent1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BRE_CLAR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tx2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Super Humanos · [PERFIL] · Taller [N] · Consultorio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2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BRE_OSCURO">
    <p:bg>
      <p:bgPr>
        <a:solidFill>
          <a:srgbClr val="0D0D0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Super Humanos · [PERFIL] · Taller [N] · Consultorio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accent1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accent1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pn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pn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png"/><Relationship Id="rId17" Type="http://schemas.openxmlformats.org/officeDocument/2006/relationships/image" Target="../media/image-12-17.png"/><Relationship Id="rId18" Type="http://schemas.openxmlformats.org/officeDocument/2006/relationships/image" Target="../media/image-12-18.png"/><Relationship Id="rId19" Type="http://schemas.openxmlformats.org/officeDocument/2006/relationships/image" Target="../media/image-12-19.png"/><Relationship Id="rId20" Type="http://schemas.openxmlformats.org/officeDocument/2006/relationships/image" Target="../media/image-12-20.png"/><Relationship Id="rId21" Type="http://schemas.openxmlformats.org/officeDocument/2006/relationships/image" Target="../media/image-12-21.png"/><Relationship Id="rId22" Type="http://schemas.openxmlformats.org/officeDocument/2006/relationships/image" Target="../media/image-12-22.png"/><Relationship Id="rId23" Type="http://schemas.openxmlformats.org/officeDocument/2006/relationships/image" Target="../media/image-12-23.png"/><Relationship Id="rId24" Type="http://schemas.openxmlformats.org/officeDocument/2006/relationships/image" Target="../media/image-12-24.png"/><Relationship Id="rId25" Type="http://schemas.openxmlformats.org/officeDocument/2006/relationships/image" Target="../media/image-12-25.png"/><Relationship Id="rId26" Type="http://schemas.openxmlformats.org/officeDocument/2006/relationships/image" Target="../media/image-12-26.png"/><Relationship Id="rId27" Type="http://schemas.openxmlformats.org/officeDocument/2006/relationships/image" Target="../media/image-12-27.png"/><Relationship Id="rId28" Type="http://schemas.openxmlformats.org/officeDocument/2006/relationships/image" Target="../media/image-12-28.png"/><Relationship Id="rId29" Type="http://schemas.openxmlformats.org/officeDocument/2006/relationships/image" Target="../media/image-12-29.png"/><Relationship Id="rId30" Type="http://schemas.openxmlformats.org/officeDocument/2006/relationships/image" Target="../media/image-12-30.png"/><Relationship Id="rId31" Type="http://schemas.openxmlformats.org/officeDocument/2006/relationships/image" Target="../media/image-12-31.png"/><Relationship Id="rId32" Type="http://schemas.openxmlformats.org/officeDocument/2006/relationships/image" Target="../media/image-12-32.png"/><Relationship Id="rId33" Type="http://schemas.openxmlformats.org/officeDocument/2006/relationships/image" Target="../media/image-12-33.png"/><Relationship Id="rId34" Type="http://schemas.openxmlformats.org/officeDocument/2006/relationships/image" Target="../media/image-12-34.png"/><Relationship Id="rId35" Type="http://schemas.openxmlformats.org/officeDocument/2006/relationships/image" Target="../media/image-12-35.png"/><Relationship Id="rId36" Type="http://schemas.openxmlformats.org/officeDocument/2006/relationships/image" Target="../media/image-12-36.png"/><Relationship Id="rId37" Type="http://schemas.openxmlformats.org/officeDocument/2006/relationships/image" Target="../media/image-12-37.png"/><Relationship Id="rId38" Type="http://schemas.openxmlformats.org/officeDocument/2006/relationships/image" Target="../media/image-12-38.png"/><Relationship Id="rId39" Type="http://schemas.openxmlformats.org/officeDocument/2006/relationships/image" Target="../media/image-12-39.png"/><Relationship Id="rId40" Type="http://schemas.openxmlformats.org/officeDocument/2006/relationships/image" Target="../media/image-12-40.png"/><Relationship Id="rId41" Type="http://schemas.openxmlformats.org/officeDocument/2006/relationships/image" Target="../media/image-12-41.png"/><Relationship Id="rId42" Type="http://schemas.openxmlformats.org/officeDocument/2006/relationships/image" Target="../media/image-12-42.png"/><Relationship Id="rId43" Type="http://schemas.openxmlformats.org/officeDocument/2006/relationships/image" Target="../media/image-12-43.png"/><Relationship Id="rId44" Type="http://schemas.openxmlformats.org/officeDocument/2006/relationships/image" Target="../media/image-12-44.png"/><Relationship Id="rId45" Type="http://schemas.openxmlformats.org/officeDocument/2006/relationships/image" Target="../media/image-12-45.png"/><Relationship Id="rId46" Type="http://schemas.openxmlformats.org/officeDocument/2006/relationships/image" Target="../media/image-12-46.png"/><Relationship Id="rId47" Type="http://schemas.openxmlformats.org/officeDocument/2006/relationships/image" Target="../media/image-12-47.png"/><Relationship Id="rId48" Type="http://schemas.openxmlformats.org/officeDocument/2006/relationships/image" Target="../media/image-12-48.png"/><Relationship Id="rId49" Type="http://schemas.openxmlformats.org/officeDocument/2006/relationships/image" Target="../media/image-12-49.png"/><Relationship Id="rId50" Type="http://schemas.openxmlformats.org/officeDocument/2006/relationships/image" Target="../media/image-12-50.png"/><Relationship Id="rId51" Type="http://schemas.openxmlformats.org/officeDocument/2006/relationships/image" Target="../media/image-12-51.png"/><Relationship Id="rId52" Type="http://schemas.openxmlformats.org/officeDocument/2006/relationships/image" Target="../media/image-12-52.png"/><Relationship Id="rId53" Type="http://schemas.openxmlformats.org/officeDocument/2006/relationships/image" Target="../media/image-12-53.png"/><Relationship Id="rId54" Type="http://schemas.openxmlformats.org/officeDocument/2006/relationships/image" Target="../media/image-12-54.png"/><Relationship Id="rId55" Type="http://schemas.openxmlformats.org/officeDocument/2006/relationships/image" Target="../media/image-12-55.png"/><Relationship Id="rId56" Type="http://schemas.openxmlformats.org/officeDocument/2006/relationships/image" Target="../media/image-12-56.png"/><Relationship Id="rId57" Type="http://schemas.openxmlformats.org/officeDocument/2006/relationships/image" Target="../media/image-12-57.png"/><Relationship Id="rId58" Type="http://schemas.openxmlformats.org/officeDocument/2006/relationships/image" Target="../media/image-12-58.png"/><Relationship Id="rId59" Type="http://schemas.openxmlformats.org/officeDocument/2006/relationships/image" Target="../media/image-12-59.png"/><Relationship Id="rId60" Type="http://schemas.openxmlformats.org/officeDocument/2006/relationships/image" Target="../media/image-12-60.png"/><Relationship Id="rId61" Type="http://schemas.openxmlformats.org/officeDocument/2006/relationships/image" Target="../media/image-12-61.png"/><Relationship Id="rId62" Type="http://schemas.openxmlformats.org/officeDocument/2006/relationships/image" Target="../media/image-12-62.png"/><Relationship Id="rId63" Type="http://schemas.openxmlformats.org/officeDocument/2006/relationships/image" Target="../media/image-12-63.png"/><Relationship Id="rId64" Type="http://schemas.openxmlformats.org/officeDocument/2006/relationships/image" Target="../media/image-12-64.png"/><Relationship Id="rId65" Type="http://schemas.openxmlformats.org/officeDocument/2006/relationships/image" Target="../media/image-12-65.png"/><Relationship Id="rId66" Type="http://schemas.openxmlformats.org/officeDocument/2006/relationships/image" Target="../media/image-12-66.png"/><Relationship Id="rId67" Type="http://schemas.openxmlformats.org/officeDocument/2006/relationships/image" Target="../media/image-12-67.png"/><Relationship Id="rId68" Type="http://schemas.openxmlformats.org/officeDocument/2006/relationships/image" Target="../media/image-12-68.png"/><Relationship Id="rId69" Type="http://schemas.openxmlformats.org/officeDocument/2006/relationships/image" Target="../media/image-12-69.png"/><Relationship Id="rId70" Type="http://schemas.openxmlformats.org/officeDocument/2006/relationships/image" Target="../media/image-12-70.png"/><Relationship Id="rId71" Type="http://schemas.openxmlformats.org/officeDocument/2006/relationships/image" Target="../media/image-12-71.png"/><Relationship Id="rId72" Type="http://schemas.openxmlformats.org/officeDocument/2006/relationships/image" Target="../media/image-12-72.png"/><Relationship Id="rId73" Type="http://schemas.openxmlformats.org/officeDocument/2006/relationships/image" Target="../media/image-12-73.png"/><Relationship Id="rId74" Type="http://schemas.openxmlformats.org/officeDocument/2006/relationships/image" Target="../media/image-12-74.png"/><Relationship Id="rId75" Type="http://schemas.openxmlformats.org/officeDocument/2006/relationships/image" Target="../media/image-12-75.png"/><Relationship Id="rId76" Type="http://schemas.openxmlformats.org/officeDocument/2006/relationships/image" Target="../media/image-12-76.png"/><Relationship Id="rId77" Type="http://schemas.openxmlformats.org/officeDocument/2006/relationships/image" Target="../media/image-12-77.png"/><Relationship Id="rId78" Type="http://schemas.openxmlformats.org/officeDocument/2006/relationships/image" Target="../media/image-12-78.png"/><Relationship Id="rId79" Type="http://schemas.openxmlformats.org/officeDocument/2006/relationships/image" Target="../media/image-12-79.png"/><Relationship Id="rId80" Type="http://schemas.openxmlformats.org/officeDocument/2006/relationships/image" Target="../media/image-12-80.png"/><Relationship Id="rId81" Type="http://schemas.openxmlformats.org/officeDocument/2006/relationships/image" Target="../media/image-12-81.png"/><Relationship Id="rId82" Type="http://schemas.openxmlformats.org/officeDocument/2006/relationships/image" Target="../media/image-12-82.png"/><Relationship Id="rId83" Type="http://schemas.openxmlformats.org/officeDocument/2006/relationships/image" Target="../media/image-12-83.png"/><Relationship Id="rId84" Type="http://schemas.openxmlformats.org/officeDocument/2006/relationships/image" Target="../media/image-12-84.png"/><Relationship Id="rId85" Type="http://schemas.openxmlformats.org/officeDocument/2006/relationships/image" Target="../media/image-12-85.png"/><Relationship Id="rId86" Type="http://schemas.openxmlformats.org/officeDocument/2006/relationships/image" Target="../media/image-12-86.png"/><Relationship Id="rId87" Type="http://schemas.openxmlformats.org/officeDocument/2006/relationships/image" Target="../media/image-12-87.png"/><Relationship Id="rId88" Type="http://schemas.openxmlformats.org/officeDocument/2006/relationships/image" Target="../media/image-12-88.png"/><Relationship Id="rId89" Type="http://schemas.openxmlformats.org/officeDocument/2006/relationships/image" Target="../media/image-12-89.png"/><Relationship Id="rId90" Type="http://schemas.openxmlformats.org/officeDocument/2006/relationships/image" Target="../media/image-12-90.png"/><Relationship Id="rId91" Type="http://schemas.openxmlformats.org/officeDocument/2006/relationships/image" Target="../media/image-12-91.png"/><Relationship Id="rId92" Type="http://schemas.openxmlformats.org/officeDocument/2006/relationships/image" Target="../media/image-12-92.png"/><Relationship Id="rId93" Type="http://schemas.openxmlformats.org/officeDocument/2006/relationships/image" Target="../media/image-12-93.png"/><Relationship Id="rId94" Type="http://schemas.openxmlformats.org/officeDocument/2006/relationships/image" Target="../media/image-12-94.png"/><Relationship Id="rId95" Type="http://schemas.openxmlformats.org/officeDocument/2006/relationships/image" Target="../media/image-12-95.png"/><Relationship Id="rId96" Type="http://schemas.openxmlformats.org/officeDocument/2006/relationships/image" Target="../media/image-12-96.png"/><Relationship Id="rId97" Type="http://schemas.openxmlformats.org/officeDocument/2006/relationships/image" Target="../media/image-12-97.png"/><Relationship Id="rId98" Type="http://schemas.openxmlformats.org/officeDocument/2006/relationships/image" Target="../media/image-12-98.png"/><Relationship Id="rId99" Type="http://schemas.openxmlformats.org/officeDocument/2006/relationships/image" Target="../media/image-12-99.png"/><Relationship Id="rId100" Type="http://schemas.openxmlformats.org/officeDocument/2006/relationships/slideLayout" Target="../slideLayouts/slideLayout4.xml"/><Relationship Id="rId101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998525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SUPER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547165" y="550469"/>
            <a:ext cx="1474013" cy="380390"/>
          </a:xfrm>
          <a:prstGeom prst="rect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602029" y="502920"/>
            <a:ext cx="1474013" cy="4754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HUMANOS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865376"/>
            <a:ext cx="146304" cy="18288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68096" y="18288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CC8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[PERFIL] · TALLER [N] DE 6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4884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6600" b="1" dirty="0">
                <a:solidFill>
                  <a:srgbClr val="FCC8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[NOMBRE DEL TALLER]</a:t>
            </a:r>
            <a:endParaRPr lang="en-US" sz="6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5204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[CONCEPTO DEL MES]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566928" y="4535424"/>
            <a:ext cx="201168" cy="301752"/>
          </a:xfrm>
          <a:prstGeom prst="chevron">
            <a:avLst/>
          </a:prstGeom>
          <a:solidFill>
            <a:srgbClr val="0D0D0C"/>
          </a:solidFill>
          <a:ln w="12700">
            <a:solidFill>
              <a:srgbClr val="0D0D0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4434840"/>
            <a:ext cx="4754880" cy="50292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5286" y="4434840"/>
            <a:ext cx="406679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i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CONSULTORIO · HORA ABIERTA DE DUDAS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4434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4C4BE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60 minutos · 4:00 a 5:00 p. m.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778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[FECHA]</a:t>
            </a:r>
            <a:pPr indent="0" marL="0">
              <a:buNone/>
            </a:pPr>
            <a:r>
              <a:rPr lang="en-US" sz="1600" dirty="0">
                <a:solidFill>
                  <a:srgbClr val="C4C4BE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·  [HORA]</a:t>
            </a:r>
            <a:pPr indent="0" marL="0">
              <a:buNone/>
            </a:pPr>
            <a:r>
              <a:rPr lang="en-US" sz="1600" dirty="0">
                <a:solidFill>
                  <a:srgbClr val="C4C4BE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  ·  Teams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943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4C4BE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Docente  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[DOCENTE]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589520" y="5669280"/>
            <a:ext cx="632460" cy="384048"/>
          </a:xfrm>
          <a:prstGeom prst="homePlate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699248" y="5669280"/>
            <a:ext cx="2209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T1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76844" y="5669280"/>
            <a:ext cx="632460" cy="384048"/>
          </a:xfrm>
          <a:prstGeom prst="chevron">
            <a:avLst/>
          </a:prstGeom>
          <a:solidFill>
            <a:srgbClr val="3D3D38"/>
          </a:solidFill>
          <a:ln w="12700">
            <a:solidFill>
              <a:srgbClr val="3D3D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05444" y="5669280"/>
            <a:ext cx="2209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T2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964168" y="5669280"/>
            <a:ext cx="632460" cy="384048"/>
          </a:xfrm>
          <a:prstGeom prst="chevron">
            <a:avLst/>
          </a:prstGeom>
          <a:solidFill>
            <a:srgbClr val="3D3D38"/>
          </a:solidFill>
          <a:ln w="12700">
            <a:solidFill>
              <a:srgbClr val="3D3D3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92768" y="5669280"/>
            <a:ext cx="2209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T3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651492" y="5669280"/>
            <a:ext cx="632460" cy="384048"/>
          </a:xfrm>
          <a:prstGeom prst="chevron">
            <a:avLst/>
          </a:prstGeom>
          <a:solidFill>
            <a:srgbClr val="3D3D38"/>
          </a:solidFill>
          <a:ln w="12700">
            <a:solidFill>
              <a:srgbClr val="3D3D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80092" y="5669280"/>
            <a:ext cx="2209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T4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10338816" y="5669280"/>
            <a:ext cx="632460" cy="384048"/>
          </a:xfrm>
          <a:prstGeom prst="chevron">
            <a:avLst/>
          </a:prstGeom>
          <a:solidFill>
            <a:srgbClr val="3D3D38"/>
          </a:solidFill>
          <a:ln w="12700">
            <a:solidFill>
              <a:srgbClr val="3D3D3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567416" y="5669280"/>
            <a:ext cx="2209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T5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1026140" y="5669280"/>
            <a:ext cx="632460" cy="384048"/>
          </a:xfrm>
          <a:prstGeom prst="chevron">
            <a:avLst/>
          </a:prstGeom>
          <a:solidFill>
            <a:srgbClr val="3D3D38"/>
          </a:solidFill>
          <a:ln w="12700">
            <a:solidFill>
              <a:srgbClr val="3D3D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1254740" y="5669280"/>
            <a:ext cx="2209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589520" y="610819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A9A93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Recorrido · marca en amarillo el taller actual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QUÉ SIRVE ESTA HORA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271016"/>
            <a:ext cx="146304" cy="18288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68096" y="1234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6B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ENTRE EL ENCUENTRO 1 Y EL ENCUENTRO 2</a:t>
            </a:r>
            <a:endParaRPr lang="en-US" sz="1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640080" cy="640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371600" y="1764792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RESOLVER TU DUDA CON TU CASO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371600" y="2075688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D3D38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Traes la tarea que elegiste para «Mi proceso» o el reto de la semana, y la trabajamos en pantalla.</a:t>
            </a:r>
            <a:endParaRPr lang="en-US" sz="16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71800"/>
            <a:ext cx="640080" cy="64008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2953512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APRENDER DE LA DUDA DE OTROS</a:t>
            </a:r>
            <a:endParaRPr 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1371600" y="3264408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D3D38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La mayoría de las dudas se repiten. Lo que se resuelve para una persona sirve para su equipo.</a:t>
            </a:r>
            <a:endParaRPr lang="en-US" sz="16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60520"/>
            <a:ext cx="640080" cy="64008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71600" y="4142232"/>
            <a:ext cx="6675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LLEGAR LISTO AL ENCUENTRO 2</a:t>
            </a:r>
            <a:endParaRPr lang="en-US" sz="2200" dirty="0"/>
          </a:p>
        </p:txBody>
      </p:sp>
      <p:sp>
        <p:nvSpPr>
          <p:cNvPr id="13" name="Text 8"/>
          <p:cNvSpPr txBox="1"/>
          <p:nvPr/>
        </p:nvSpPr>
        <p:spPr>
          <a:xfrm>
            <a:off x="1371600" y="4453128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3D3D38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Sales con tu formato «Mi proceso» más avanzado y con el prompt ajustado a tu tarea.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8595360" y="1783080"/>
            <a:ext cx="3044952" cy="3429000"/>
          </a:xfrm>
          <a:prstGeom prst="roundRect">
            <a:avLst>
              <a:gd name="adj" fmla="val 3303"/>
            </a:avLst>
          </a:prstGeom>
          <a:solidFill>
            <a:srgbClr val="0D0D0C"/>
          </a:solidFill>
          <a:ln w="15875">
            <a:solidFill>
              <a:srgbClr val="0D0D0C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595360" y="2057400"/>
            <a:ext cx="30449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CC8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SIN</a:t>
            </a:r>
            <a:endParaRPr lang="en-US" sz="4000" dirty="0"/>
          </a:p>
        </p:txBody>
      </p:sp>
      <p:sp>
        <p:nvSpPr>
          <p:cNvPr id="16" name="Text 11"/>
          <p:cNvSpPr txBox="1"/>
          <p:nvPr/>
        </p:nvSpPr>
        <p:spPr>
          <a:xfrm>
            <a:off x="8778240" y="2697480"/>
            <a:ext cx="2697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7F7F5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asistencia obligatoria</a:t>
            </a:r>
            <a:endParaRPr lang="en-US" sz="16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7F7F5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puntos</a:t>
            </a:r>
            <a:endParaRPr lang="en-US" sz="16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7F7F5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grabación de tu cámara</a:t>
            </a:r>
            <a:endParaRPr lang="en-US" sz="1600" dirty="0"/>
          </a:p>
          <a:p>
            <a:pPr algn="ctr"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7F7F5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preguntas tontas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2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CÓMO VA LA HORA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271016"/>
            <a:ext cx="146304" cy="18288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68096" y="12344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6B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[FECHA CONSULTORIO] · 4:00 A 5:00 P. M. · TEAMS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732456" cy="502920"/>
          </a:xfrm>
          <a:prstGeom prst="homePlate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783080"/>
            <a:ext cx="2320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0–5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359152"/>
            <a:ext cx="2732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Apertura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Tres preguntas para arrancar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35960" y="1783080"/>
            <a:ext cx="2732456" cy="50292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64560" y="1783080"/>
            <a:ext cx="2320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5–45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335960" y="2359152"/>
            <a:ext cx="2732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Dudas y resolución en vivo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Una por una, con la herramienta en pantalla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3280" y="1783080"/>
            <a:ext cx="2732456" cy="50292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1880" y="1783080"/>
            <a:ext cx="2320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45–55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123280" y="2359152"/>
            <a:ext cx="2732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Avance de «Mi proceso»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Dónde debería ir cada persona hoy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910599" y="1783080"/>
            <a:ext cx="2732456" cy="50292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39199" y="1783080"/>
            <a:ext cx="2320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55–60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910599" y="2359152"/>
            <a:ext cx="2732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Cierre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Qué traer al encuentro 2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66928" y="3941064"/>
            <a:ext cx="201168" cy="256032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" y="3840480"/>
            <a:ext cx="5669280" cy="457200"/>
          </a:xfrm>
          <a:prstGeom prst="chevron">
            <a:avLst/>
          </a:prstGeom>
          <a:solidFill>
            <a:srgbClr val="0D0D0C"/>
          </a:solidFill>
          <a:ln w="12700">
            <a:solidFill>
              <a:srgbClr val="0D0D0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20140" y="3840480"/>
            <a:ext cx="50063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ORDEN LO PONEN LAS DUDAS QUE LLEGUEN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52628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0D0D0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Si nadie trae una duda, el docente abre con un caso del taller y lo resuelve en vivo. Si llegan más dudas de las que caben, las que quedan pendientes pasan al encuentro 2.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2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PARA ARRANCAR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271016"/>
            <a:ext cx="146304" cy="18288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68096" y="123444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CC8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TRES PREGUNTAS, POR SI NADIE HABLA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868680" cy="731520"/>
          </a:xfrm>
          <a:prstGeom prst="homePlate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8745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17830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[¿Qué tarea elegiste para «Mi proceso» y en qué paso vas?]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48640" y="3200400"/>
            <a:ext cx="868680" cy="731520"/>
          </a:xfrm>
          <a:prstGeom prst="homePlate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2004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1691640" y="310896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[¿Qué le pediste a la herramienta esta semana y qué te devolvió?]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548640" y="4526280"/>
            <a:ext cx="868680" cy="731520"/>
          </a:xfrm>
          <a:prstGeom prst="homePlate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45262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1691640" y="443484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[¿Qué parte del reto te tomó más de cinco minutos?]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accent1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TABLERO DE DUDAS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271016"/>
            <a:ext cx="146304" cy="18288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68096" y="123444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6B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 LLENA EN VIVO · EL MODERADOR ANOTA MIENTRAS EL DOCENTE RESUELVE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4415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6675120"/>
                <a:gridCol w="2194560"/>
                <a:gridCol w="167335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CC800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#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CC800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Duda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CC800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Quién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CC800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Estado</a:t>
                      </a:r>
                      <a:endParaRPr lang="en-US" sz="14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0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1</a:t>
                      </a:r>
                      <a:endParaRPr lang="en-US" sz="13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[Duda en una línea]</a:t>
                      </a:r>
                      <a:endParaRPr lang="en-US" sz="13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[Nombre · área]</a:t>
                      </a:r>
                      <a:endParaRPr lang="en-US" sz="13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Resuelta</a:t>
                      </a:r>
                      <a:endParaRPr lang="en-US" sz="13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2</a:t>
                      </a:r>
                      <a:endParaRPr lang="en-US" sz="13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[Duda en una línea]</a:t>
                      </a:r>
                      <a:endParaRPr lang="en-US" sz="13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[Nombre · área]</a:t>
                      </a:r>
                      <a:endParaRPr lang="en-US" sz="13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Pendiente</a:t>
                      </a:r>
                      <a:endParaRPr lang="en-US" sz="13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3</a:t>
                      </a:r>
                      <a:endParaRPr lang="en-US" sz="13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[Duda en una línea]</a:t>
                      </a:r>
                      <a:endParaRPr lang="en-US" sz="13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[Nombre · área]</a:t>
                      </a:r>
                      <a:endParaRPr lang="en-US" sz="13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Va al encuentro 2</a:t>
                      </a:r>
                      <a:endParaRPr lang="en-US" sz="13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4</a:t>
                      </a:r>
                      <a:endParaRPr lang="en-US" sz="13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5</a:t>
                      </a:r>
                      <a:endParaRPr lang="en-US" sz="13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6</a:t>
                      </a:r>
                      <a:endParaRPr lang="en-US" sz="13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257800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96112" y="52578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Resuelta</a:t>
            </a:r>
            <a:endParaRPr lang="en-US" sz="13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5257800"/>
            <a:ext cx="274320" cy="27432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3273552" y="52578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Pendiente</a:t>
            </a:r>
            <a:endParaRPr lang="en-US" sz="1300" dirty="0"/>
          </a:p>
        </p:txBody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5257800"/>
            <a:ext cx="274320" cy="27432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5650992" y="52578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Va al encuentro 2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2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93776"/>
            <a:ext cx="146304" cy="18288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68096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6B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RESOLVIENDO · [DUDA EN UNA LÍNEA]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11094415" cy="5212080"/>
          </a:xfrm>
          <a:prstGeom prst="roundRect">
            <a:avLst>
              <a:gd name="adj" fmla="val 1930"/>
            </a:avLst>
          </a:prstGeom>
          <a:solidFill>
            <a:srgbClr val="F7F7F5"/>
          </a:solidFill>
          <a:ln w="15875">
            <a:solidFill>
              <a:srgbClr val="9A9A93"/>
            </a:solidFill>
            <a:prstDash val="dash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75808" y="2834640"/>
            <a:ext cx="640080" cy="6400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611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Pantalla compartida con la herramienta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2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93776"/>
            <a:ext cx="146304" cy="18288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68096" y="45720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6B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RESOLVIENDO · [DUDA EN UNA LÍNEA]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11094415" cy="1737360"/>
          </a:xfrm>
          <a:prstGeom prst="roundRect">
            <a:avLst>
              <a:gd name="adj" fmla="val 5789"/>
            </a:avLst>
          </a:prstGeom>
          <a:solidFill>
            <a:srgbClr val="0D0D0C"/>
          </a:solidFill>
          <a:ln w="12700">
            <a:solidFill>
              <a:srgbClr val="0D0D0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069848"/>
            <a:ext cx="1133856" cy="292608"/>
          </a:xfrm>
          <a:prstGeom prst="homePlate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50392" y="1069848"/>
            <a:ext cx="9052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PROMPT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490472"/>
            <a:ext cx="106372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FFFFF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[PROMPT QUE SE ESTÁ PROBANDO]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2834640"/>
            <a:ext cx="11094415" cy="3246120"/>
          </a:xfrm>
          <a:prstGeom prst="roundRect">
            <a:avLst>
              <a:gd name="adj" fmla="val 3099"/>
            </a:avLst>
          </a:prstGeom>
          <a:solidFill>
            <a:srgbClr val="F7F7F5"/>
          </a:solidFill>
          <a:ln w="15875">
            <a:solidFill>
              <a:srgbClr val="9A9A93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Resultado o pantalla compartida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2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¿DÓNDE VAS CON «MI PROCESO»?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271016"/>
            <a:ext cx="146304" cy="18288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68096" y="12344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6B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MINUTO 45 AL 55 · REVISA TU FORMATO MIENTRAS HABLAMOS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15258" cy="3840480"/>
          </a:xfrm>
          <a:prstGeom prst="roundRect">
            <a:avLst>
              <a:gd name="adj" fmla="val 2861"/>
            </a:avLst>
          </a:prstGeom>
          <a:solidFill>
            <a:srgbClr val="FFFFFF"/>
          </a:solidFill>
          <a:ln w="15875">
            <a:solidFill>
              <a:srgbClr val="DEDED9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57400"/>
            <a:ext cx="640080" cy="6400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283464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 · LA TAREA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29184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0D0D0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Ya elegiste una tarea que se repite y la escribiste con nombre, área y frecuencia.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22960" y="4937760"/>
            <a:ext cx="2966618" cy="384048"/>
          </a:xfrm>
          <a:prstGeom prst="homePlate">
            <a:avLst/>
          </a:prstGeom>
          <a:solidFill>
            <a:srgbClr val="0D0D0C"/>
          </a:solidFill>
          <a:ln w="12700">
            <a:solidFill>
              <a:srgbClr val="0D0D0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60120" y="4937760"/>
            <a:ext cx="26008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CC8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HOY DEBERÍAS TENERLA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38218" y="1783080"/>
            <a:ext cx="3515258" cy="3840480"/>
          </a:xfrm>
          <a:prstGeom prst="roundRect">
            <a:avLst>
              <a:gd name="adj" fmla="val 2861"/>
            </a:avLst>
          </a:prstGeom>
          <a:solidFill>
            <a:srgbClr val="FFF9E0"/>
          </a:solidFill>
          <a:ln w="15875">
            <a:solidFill>
              <a:srgbClr val="FCC80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538" y="2057400"/>
            <a:ext cx="640080" cy="6400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612538" y="283464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2 · CUÁNTO TOMA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4612538" y="329184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0D0D0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Ya la mediste al menos una vez: minutos por vez y veces por semana.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4612538" y="4937760"/>
            <a:ext cx="2966618" cy="384048"/>
          </a:xfrm>
          <a:prstGeom prst="homePlate">
            <a:avLst/>
          </a:prstGeom>
          <a:solidFill>
            <a:srgbClr val="0D0D0C"/>
          </a:solidFill>
          <a:ln w="12700">
            <a:solidFill>
              <a:srgbClr val="0D0D0C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749698" y="4937760"/>
            <a:ext cx="26008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CC8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HOY DEBERÍAS IR EN ESTO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8127797" y="1783080"/>
            <a:ext cx="3515258" cy="3840480"/>
          </a:xfrm>
          <a:prstGeom prst="roundRect">
            <a:avLst>
              <a:gd name="adj" fmla="val 2861"/>
            </a:avLst>
          </a:prstGeom>
          <a:solidFill>
            <a:srgbClr val="FFFFFF"/>
          </a:solidFill>
          <a:ln w="15875">
            <a:solidFill>
              <a:srgbClr val="DEDED9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2117" y="2057400"/>
            <a:ext cx="640080" cy="64008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402117" y="2834640"/>
            <a:ext cx="296661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D0D0C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 · LA MEJORA</a:t>
            </a:r>
            <a:endParaRPr lang="en-US" sz="2200" dirty="0"/>
          </a:p>
        </p:txBody>
      </p:sp>
      <p:sp>
        <p:nvSpPr>
          <p:cNvPr id="20" name="Text 15"/>
          <p:cNvSpPr txBox="1"/>
          <p:nvPr/>
        </p:nvSpPr>
        <p:spPr>
          <a:xfrm>
            <a:off x="8402117" y="3291840"/>
            <a:ext cx="29666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0D0D0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Qué parte podría apoyar la IA y qué resultado esperas. Se termina en el encuentro 2.</a:t>
            </a:r>
            <a:endParaRPr lang="en-US" sz="1500" dirty="0"/>
          </a:p>
        </p:txBody>
      </p:sp>
      <p:sp>
        <p:nvSpPr>
          <p:cNvPr id="21" name="Shape 16"/>
          <p:cNvSpPr/>
          <p:nvPr/>
        </p:nvSpPr>
        <p:spPr>
          <a:xfrm>
            <a:off x="8402117" y="4937760"/>
            <a:ext cx="2966618" cy="384048"/>
          </a:xfrm>
          <a:prstGeom prst="homePlate">
            <a:avLst/>
          </a:prstGeom>
          <a:solidFill>
            <a:srgbClr val="0D0D0C"/>
          </a:solidFill>
          <a:ln w="12700">
            <a:solidFill>
              <a:srgbClr val="0D0D0C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8539277" y="4937760"/>
            <a:ext cx="26008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CC8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 CIERRA EL [FECHA E2]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2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ERRORES FRECUENTES DE ESTE TALLER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271016"/>
            <a:ext cx="146304" cy="18288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68096" y="123444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CC8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LO QUE EL DOCENTE VIGILA · DEL TEMARIO DETALLADO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410048" cy="1828800"/>
          </a:xfrm>
          <a:prstGeom prst="roundRect">
            <a:avLst>
              <a:gd name="adj" fmla="val 5500"/>
            </a:avLst>
          </a:prstGeom>
          <a:solidFill>
            <a:srgbClr val="161614"/>
          </a:solidFill>
          <a:ln w="15875">
            <a:solidFill>
              <a:srgbClr val="3D3D38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1168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965960"/>
            <a:ext cx="4175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[Error 1: qué hace la gente y qué sale mal]</a:t>
            </a:r>
            <a:endParaRPr lang="en-US" sz="20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743200"/>
            <a:ext cx="502920" cy="5029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08760" y="2743200"/>
            <a:ext cx="4175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7F7F5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[Qué hacer en cambio]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233008" y="1737360"/>
            <a:ext cx="5410048" cy="1828800"/>
          </a:xfrm>
          <a:prstGeom prst="roundRect">
            <a:avLst>
              <a:gd name="adj" fmla="val 5500"/>
            </a:avLst>
          </a:prstGeom>
          <a:solidFill>
            <a:srgbClr val="161614"/>
          </a:solidFill>
          <a:ln w="15875">
            <a:solidFill>
              <a:srgbClr val="3D3D38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328" y="2011680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193128" y="1965960"/>
            <a:ext cx="4175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[Error 2]</a:t>
            </a:r>
            <a:endParaRPr lang="en-US" sz="20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7328" y="2743200"/>
            <a:ext cx="502920" cy="5029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193128" y="2743200"/>
            <a:ext cx="4175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7F7F5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[Qué hacer en cambio]</a:t>
            </a:r>
            <a:endParaRPr lang="en-US" sz="1500" dirty="0"/>
          </a:p>
        </p:txBody>
      </p:sp>
      <p:sp>
        <p:nvSpPr>
          <p:cNvPr id="15" name="Shape 9"/>
          <p:cNvSpPr/>
          <p:nvPr/>
        </p:nvSpPr>
        <p:spPr>
          <a:xfrm>
            <a:off x="548640" y="3794760"/>
            <a:ext cx="5410048" cy="1828800"/>
          </a:xfrm>
          <a:prstGeom prst="roundRect">
            <a:avLst>
              <a:gd name="adj" fmla="val 5500"/>
            </a:avLst>
          </a:prstGeom>
          <a:solidFill>
            <a:srgbClr val="161614"/>
          </a:solidFill>
          <a:ln w="15875">
            <a:solidFill>
              <a:srgbClr val="3D3D38"/>
            </a:solidFill>
            <a:prstDash val="solid"/>
          </a:ln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4069080"/>
            <a:ext cx="502920" cy="5029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508760" y="4023360"/>
            <a:ext cx="4175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[Error 3]</a:t>
            </a:r>
            <a:endParaRPr lang="en-US" sz="2000" dirty="0"/>
          </a:p>
        </p:txBody>
      </p:sp>
      <p:pic>
        <p:nvPicPr>
          <p:cNvPr id="1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4800600"/>
            <a:ext cx="502920" cy="50292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1508760" y="4800600"/>
            <a:ext cx="4175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7F7F5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[Qué hacer en cambio]</a:t>
            </a:r>
            <a:endParaRPr lang="en-US" sz="1500" dirty="0"/>
          </a:p>
        </p:txBody>
      </p:sp>
      <p:sp>
        <p:nvSpPr>
          <p:cNvPr id="20" name="Shape 12"/>
          <p:cNvSpPr/>
          <p:nvPr/>
        </p:nvSpPr>
        <p:spPr>
          <a:xfrm>
            <a:off x="6233008" y="3794760"/>
            <a:ext cx="5410048" cy="1828800"/>
          </a:xfrm>
          <a:prstGeom prst="roundRect">
            <a:avLst>
              <a:gd name="adj" fmla="val 5500"/>
            </a:avLst>
          </a:prstGeom>
          <a:solidFill>
            <a:srgbClr val="161614"/>
          </a:solidFill>
          <a:ln w="15875">
            <a:solidFill>
              <a:srgbClr val="3D3D38"/>
            </a:solidFill>
            <a:prstDash val="solid"/>
          </a:ln>
        </p:spPr>
      </p:sp>
      <p:pic>
        <p:nvPicPr>
          <p:cNvPr id="2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7328" y="4069080"/>
            <a:ext cx="502920" cy="502920"/>
          </a:xfrm>
          <a:prstGeom prst="rect">
            <a:avLst/>
          </a:prstGeom>
        </p:spPr>
      </p:pic>
      <p:sp>
        <p:nvSpPr>
          <p:cNvPr id="22" name="Text 13"/>
          <p:cNvSpPr txBox="1"/>
          <p:nvPr/>
        </p:nvSpPr>
        <p:spPr>
          <a:xfrm>
            <a:off x="7193128" y="4023360"/>
            <a:ext cx="4175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[Error 4]</a:t>
            </a:r>
            <a:endParaRPr lang="en-US" sz="2000" dirty="0"/>
          </a:p>
        </p:txBody>
      </p:sp>
      <p:pic>
        <p:nvPicPr>
          <p:cNvPr id="2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07328" y="4800600"/>
            <a:ext cx="502920" cy="502920"/>
          </a:xfrm>
          <a:prstGeom prst="rect">
            <a:avLst/>
          </a:prstGeom>
        </p:spPr>
      </p:pic>
      <p:sp>
        <p:nvSpPr>
          <p:cNvPr id="24" name="Text 14"/>
          <p:cNvSpPr txBox="1"/>
          <p:nvPr/>
        </p:nvSpPr>
        <p:spPr>
          <a:xfrm>
            <a:off x="7193128" y="4800600"/>
            <a:ext cx="4175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F7F7F5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[Qué hacer en cambio]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accent1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QUÉ TRAES AL ENCUENTRO 2</a:t>
            </a:r>
            <a:endParaRPr lang="en-US" sz="36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640080" cy="64008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371600" y="176479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TU FORMATO «MI PROCESO»</a:t>
            </a:r>
            <a:endParaRPr lang="en-US" sz="22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2075688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4C4BE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Con la tarea, la medición y una primera idea de mejora.</a:t>
            </a:r>
            <a:endParaRPr lang="en-US" sz="16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971800"/>
            <a:ext cx="640080" cy="6400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371600" y="295351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EL RETO DE LA SEMANA ENTREGADO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1371600" y="3264408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4C4BE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Hasta el miércoles en la plataforma.</a:t>
            </a:r>
            <a:endParaRPr lang="en-US" sz="16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160520"/>
            <a:ext cx="640080" cy="64008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71600" y="4142232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LAS DUDAS QUE QUEDARON PENDIENTES</a:t>
            </a:r>
            <a:endParaRPr lang="en-US" sz="2200" dirty="0"/>
          </a:p>
        </p:txBody>
      </p:sp>
      <p:sp>
        <p:nvSpPr>
          <p:cNvPr id="11" name="Text 6"/>
          <p:cNvSpPr txBox="1"/>
          <p:nvPr/>
        </p:nvSpPr>
        <p:spPr>
          <a:xfrm>
            <a:off x="1371600" y="4453128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4C4BE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Las del tablero marcadas «Va al encuentro 2».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6675120" y="1783080"/>
            <a:ext cx="4965192" cy="3566160"/>
          </a:xfrm>
          <a:prstGeom prst="roundRect">
            <a:avLst>
              <a:gd name="adj" fmla="val 2821"/>
            </a:avLst>
          </a:prstGeom>
          <a:solidFill>
            <a:srgbClr val="161614"/>
          </a:solidFill>
          <a:ln w="15875">
            <a:solidFill>
              <a:srgbClr val="3D3D38"/>
            </a:solidFill>
            <a:prstDash val="solid"/>
          </a:ln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5160" y="2103120"/>
            <a:ext cx="731520" cy="7315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995160" y="297180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CC8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[FECHA E2]</a:t>
            </a:r>
            <a:endParaRPr lang="en-US" sz="4000" dirty="0"/>
          </a:p>
        </p:txBody>
      </p:sp>
      <p:sp>
        <p:nvSpPr>
          <p:cNvPr id="15" name="Text 9"/>
          <p:cNvSpPr txBox="1"/>
          <p:nvPr/>
        </p:nvSpPr>
        <p:spPr>
          <a:xfrm>
            <a:off x="6995160" y="37947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[HORA] · Teams</a:t>
            </a:r>
            <a:endParaRPr lang="en-US" sz="2400" dirty="0"/>
          </a:p>
        </p:txBody>
      </p:sp>
      <p:sp>
        <p:nvSpPr>
          <p:cNvPr id="16" name="Text 10"/>
          <p:cNvSpPr txBox="1"/>
          <p:nvPr/>
        </p:nvSpPr>
        <p:spPr>
          <a:xfrm>
            <a:off x="6995160" y="438912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7F7F5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Encuentro 2 · aplicación a tu tarea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accent1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GUÍA DE USO DE ESTA PLANTILLA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271016"/>
            <a:ext cx="146304" cy="18288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68096" y="12344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6B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NOMBRE DEL ARCHIVO · SH_[PERFIL]_T[N]_C_[AAAAMMDD]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576072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8404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CC800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Marcador</a:t>
                      </a:r>
                      <a:endParaRPr lang="en-US" sz="13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0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CC800"/>
                          </a:solidFill>
                          <a:latin typeface="Barlow Condensed" pitchFamily="34" charset="0"/>
                          <a:ea typeface="Barlow Condensed" pitchFamily="34" charset="-122"/>
                          <a:cs typeface="Barlow Condensed" pitchFamily="34" charset="-120"/>
                        </a:rPr>
                        <a:t>Qué va ahí</a:t>
                      </a:r>
                      <a:endParaRPr lang="en-US" sz="1300" dirty="0">
                        <a:latin typeface="Barlow Condensed" charset="0"/>
                        <a:ea typeface="Barlow Condensed" charset="0"/>
                        <a:cs typeface="Barlow Condensed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0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[PERFIL]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COM o ADM en el nombre del archivo; Comercial o Administrativo en el texto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[N]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Número del taller, 1 a 6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[NOMBRE DEL TALLER]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Del temario detallado, tal como está escrito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[CONCEPTO DEL MES]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El concepto de IA del mes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[FECHA CONSULTORIO] [FECHA E2]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Con día de la semana: «miércoles 14 de octubre»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[DUDA EN UNA LÍNEA]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Se cambia en vivo en las pantallas de resolución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[DOCENTE]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Nombre completo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[Error 1…4]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D0D0C"/>
                          </a:solidFill>
                          <a:latin typeface="Atkinson Hyperlegible Next" pitchFamily="34" charset="0"/>
                          <a:ea typeface="Atkinson Hyperlegible Next" pitchFamily="34" charset="-122"/>
                          <a:cs typeface="Atkinson Hyperlegible Next" pitchFamily="34" charset="-120"/>
                        </a:rPr>
                        <a:t>Del apartado «Lo que el docente debe vigilar» del temario</a:t>
                      </a:r>
                      <a:endParaRPr lang="en-US" sz="1200" dirty="0">
                        <a:latin typeface="Atkinson Hyperlegible Next" charset="0"/>
                        <a:ea typeface="Atkinson Hyperlegible Next" charset="0"/>
                        <a:cs typeface="Atkinson Hyperlegible Next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EDE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647688" y="1700784"/>
            <a:ext cx="201168" cy="256032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903720" y="1600200"/>
            <a:ext cx="4663440" cy="457200"/>
          </a:xfrm>
          <a:prstGeom prst="chevron">
            <a:avLst/>
          </a:prstGeom>
          <a:solidFill>
            <a:srgbClr val="0D0D0C"/>
          </a:solidFill>
          <a:ln w="12700">
            <a:solidFill>
              <a:srgbClr val="0D0D0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200900" y="1600200"/>
            <a:ext cx="4000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i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REGLAS QUE NO CAMBIAN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6675120" y="2286000"/>
            <a:ext cx="49377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0D0D0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Titulares en Barlow Condensed y en mayúsculas. Cuerpo en Atkinson Hyperlegible Next, en tipo oración.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0D0D0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Negro #0D0D0C y amarillo #FCC800. Sobre amarillo el texto va en negro. El amarillo como texto solo va sobre negro. Sobre blanco, el acento de texto es #8A6B00.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0D0D0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El consultorio se vive en pantalla compartida: la presentación acompaña, la herramienta protagoniza.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0D0D0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Sin logos de las empresas: la pieza sirve igual en las cinco compañías.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0D0D0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Pie de página: edítalo una sola vez en Vista &gt; Patrón de diapositivas.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0D0D0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Si falta una fuente, PowerPoint usa Arial Narrow y Arial. Instala las dos fuentes antes de presentar.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300" dirty="0">
                <a:solidFill>
                  <a:srgbClr val="0D0D0C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Esta diapositiva y la biblioteca de íconos se borran antes de presentar.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2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BIBLIOTECA DE ÍCONOS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271016"/>
            <a:ext cx="146304" cy="182880"/>
          </a:xfrm>
          <a:prstGeom prst="chevron">
            <a:avLst/>
          </a:prstGeom>
          <a:solidFill>
            <a:srgbClr val="FCC800"/>
          </a:solidFill>
          <a:ln w="12700">
            <a:solidFill>
              <a:srgbClr val="FCC8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68096" y="12344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A6B00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COPIA Y PEGA EL ÍCONO EN LA DIAPOSITIVA QUE LO NECESITE</a:t>
            </a:r>
            <a:endParaRPr lang="en-US" sz="13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9468" y="1691640"/>
            <a:ext cx="566928" cy="566928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5188" y="2304288"/>
            <a:ext cx="256032" cy="256032"/>
          </a:xfrm>
          <a:prstGeom prst="rect">
            <a:avLst/>
          </a:prstGeom>
        </p:spPr>
      </p:pic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652" y="2304288"/>
            <a:ext cx="256032" cy="256032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260604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chevron-right</a:t>
            </a:r>
            <a:endParaRPr lang="en-US" sz="90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78051" y="1691640"/>
            <a:ext cx="566928" cy="566928"/>
          </a:xfrm>
          <a:prstGeom prst="rect">
            <a:avLst/>
          </a:prstGeom>
        </p:spPr>
      </p:pic>
      <p:pic>
        <p:nvPicPr>
          <p:cNvPr id="1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3771" y="2304288"/>
            <a:ext cx="256032" cy="256032"/>
          </a:xfrm>
          <a:prstGeom prst="rect">
            <a:avLst/>
          </a:prstGeom>
        </p:spPr>
      </p:pic>
      <p:pic>
        <p:nvPicPr>
          <p:cNvPr id="1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7235" y="2304288"/>
            <a:ext cx="256032" cy="256032"/>
          </a:xfrm>
          <a:prstGeom prst="rect">
            <a:avLst/>
          </a:prstGeom>
        </p:spPr>
      </p:pic>
      <p:sp>
        <p:nvSpPr>
          <p:cNvPr id="12" name="Text 4"/>
          <p:cNvSpPr txBox="1"/>
          <p:nvPr/>
        </p:nvSpPr>
        <p:spPr>
          <a:xfrm>
            <a:off x="1557223" y="260604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chevron-left</a:t>
            </a:r>
            <a:endParaRPr lang="en-US" sz="900" dirty="0"/>
          </a:p>
        </p:txBody>
      </p:sp>
      <p:pic>
        <p:nvPicPr>
          <p:cNvPr id="1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86634" y="1691640"/>
            <a:ext cx="566928" cy="566928"/>
          </a:xfrm>
          <a:prstGeom prst="rect">
            <a:avLst/>
          </a:prstGeom>
        </p:spPr>
      </p:pic>
      <p:pic>
        <p:nvPicPr>
          <p:cNvPr id="1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32354" y="2304288"/>
            <a:ext cx="256032" cy="256032"/>
          </a:xfrm>
          <a:prstGeom prst="rect">
            <a:avLst/>
          </a:prstGeom>
        </p:spPr>
      </p:pic>
      <p:pic>
        <p:nvPicPr>
          <p:cNvPr id="1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15818" y="2304288"/>
            <a:ext cx="256032" cy="256032"/>
          </a:xfrm>
          <a:prstGeom prst="rect">
            <a:avLst/>
          </a:prstGeom>
        </p:spPr>
      </p:pic>
      <p:sp>
        <p:nvSpPr>
          <p:cNvPr id="16" name="Text 5"/>
          <p:cNvSpPr txBox="1"/>
          <p:nvPr/>
        </p:nvSpPr>
        <p:spPr>
          <a:xfrm>
            <a:off x="2565806" y="260604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chevrons-up</a:t>
            </a:r>
            <a:endParaRPr lang="en-US" sz="900" dirty="0"/>
          </a:p>
        </p:txBody>
      </p:sp>
      <p:pic>
        <p:nvPicPr>
          <p:cNvPr id="1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95217" y="1691640"/>
            <a:ext cx="566928" cy="566928"/>
          </a:xfrm>
          <a:prstGeom prst="rect">
            <a:avLst/>
          </a:prstGeom>
        </p:spPr>
      </p:pic>
      <p:pic>
        <p:nvPicPr>
          <p:cNvPr id="18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40937" y="2304288"/>
            <a:ext cx="256032" cy="256032"/>
          </a:xfrm>
          <a:prstGeom prst="rect">
            <a:avLst/>
          </a:prstGeom>
        </p:spPr>
      </p:pic>
      <p:pic>
        <p:nvPicPr>
          <p:cNvPr id="1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24401" y="2304288"/>
            <a:ext cx="256032" cy="256032"/>
          </a:xfrm>
          <a:prstGeom prst="rect">
            <a:avLst/>
          </a:prstGeom>
        </p:spPr>
      </p:pic>
      <p:sp>
        <p:nvSpPr>
          <p:cNvPr id="20" name="Text 6"/>
          <p:cNvSpPr txBox="1"/>
          <p:nvPr/>
        </p:nvSpPr>
        <p:spPr>
          <a:xfrm>
            <a:off x="3574390" y="260604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play</a:t>
            </a:r>
            <a:endParaRPr lang="en-US" sz="900" dirty="0"/>
          </a:p>
        </p:txBody>
      </p:sp>
      <p:pic>
        <p:nvPicPr>
          <p:cNvPr id="21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803800" y="1691640"/>
            <a:ext cx="566928" cy="566928"/>
          </a:xfrm>
          <a:prstGeom prst="rect">
            <a:avLst/>
          </a:prstGeom>
        </p:spPr>
      </p:pic>
      <p:pic>
        <p:nvPicPr>
          <p:cNvPr id="22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849520" y="2304288"/>
            <a:ext cx="256032" cy="256032"/>
          </a:xfrm>
          <a:prstGeom prst="rect">
            <a:avLst/>
          </a:prstGeom>
        </p:spPr>
      </p:pic>
      <p:pic>
        <p:nvPicPr>
          <p:cNvPr id="2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32984" y="2304288"/>
            <a:ext cx="256032" cy="256032"/>
          </a:xfrm>
          <a:prstGeom prst="rect">
            <a:avLst/>
          </a:prstGeom>
        </p:spPr>
      </p:pic>
      <p:sp>
        <p:nvSpPr>
          <p:cNvPr id="24" name="Text 7"/>
          <p:cNvSpPr txBox="1"/>
          <p:nvPr/>
        </p:nvSpPr>
        <p:spPr>
          <a:xfrm>
            <a:off x="4582973" y="260604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live</a:t>
            </a:r>
            <a:endParaRPr lang="en-US" sz="900" dirty="0"/>
          </a:p>
        </p:txBody>
      </p:sp>
      <p:pic>
        <p:nvPicPr>
          <p:cNvPr id="2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812384" y="1691640"/>
            <a:ext cx="566928" cy="566928"/>
          </a:xfrm>
          <a:prstGeom prst="rect">
            <a:avLst/>
          </a:prstGeom>
        </p:spPr>
      </p:pic>
      <p:pic>
        <p:nvPicPr>
          <p:cNvPr id="26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858104" y="2304288"/>
            <a:ext cx="256032" cy="256032"/>
          </a:xfrm>
          <a:prstGeom prst="rect">
            <a:avLst/>
          </a:prstGeom>
        </p:spPr>
      </p:pic>
      <p:pic>
        <p:nvPicPr>
          <p:cNvPr id="2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141568" y="2304288"/>
            <a:ext cx="256032" cy="256032"/>
          </a:xfrm>
          <a:prstGeom prst="rect">
            <a:avLst/>
          </a:prstGeom>
        </p:spPr>
      </p:pic>
      <p:sp>
        <p:nvSpPr>
          <p:cNvPr id="28" name="Text 8"/>
          <p:cNvSpPr txBox="1"/>
          <p:nvPr/>
        </p:nvSpPr>
        <p:spPr>
          <a:xfrm>
            <a:off x="5591556" y="260604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camera</a:t>
            </a:r>
            <a:endParaRPr lang="en-US" sz="900" dirty="0"/>
          </a:p>
        </p:txBody>
      </p:sp>
      <p:pic>
        <p:nvPicPr>
          <p:cNvPr id="29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820967" y="1691640"/>
            <a:ext cx="566928" cy="566928"/>
          </a:xfrm>
          <a:prstGeom prst="rect">
            <a:avLst/>
          </a:prstGeom>
        </p:spPr>
      </p:pic>
      <p:pic>
        <p:nvPicPr>
          <p:cNvPr id="30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866687" y="2304288"/>
            <a:ext cx="256032" cy="256032"/>
          </a:xfrm>
          <a:prstGeom prst="rect">
            <a:avLst/>
          </a:prstGeom>
        </p:spPr>
      </p:pic>
      <p:pic>
        <p:nvPicPr>
          <p:cNvPr id="31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150151" y="2304288"/>
            <a:ext cx="256032" cy="256032"/>
          </a:xfrm>
          <a:prstGeom prst="rect">
            <a:avLst/>
          </a:prstGeom>
        </p:spPr>
      </p:pic>
      <p:sp>
        <p:nvSpPr>
          <p:cNvPr id="32" name="Text 9"/>
          <p:cNvSpPr txBox="1"/>
          <p:nvPr/>
        </p:nvSpPr>
        <p:spPr>
          <a:xfrm>
            <a:off x="6600139" y="260604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upload</a:t>
            </a:r>
            <a:endParaRPr lang="en-US" sz="900" dirty="0"/>
          </a:p>
        </p:txBody>
      </p:sp>
      <p:pic>
        <p:nvPicPr>
          <p:cNvPr id="33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829550" y="1691640"/>
            <a:ext cx="566928" cy="566928"/>
          </a:xfrm>
          <a:prstGeom prst="rect">
            <a:avLst/>
          </a:prstGeom>
        </p:spPr>
      </p:pic>
      <p:pic>
        <p:nvPicPr>
          <p:cNvPr id="34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7875270" y="2304288"/>
            <a:ext cx="256032" cy="256032"/>
          </a:xfrm>
          <a:prstGeom prst="rect">
            <a:avLst/>
          </a:prstGeom>
        </p:spPr>
      </p:pic>
      <p:pic>
        <p:nvPicPr>
          <p:cNvPr id="35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158734" y="2304288"/>
            <a:ext cx="256032" cy="256032"/>
          </a:xfrm>
          <a:prstGeom prst="rect">
            <a:avLst/>
          </a:prstGeom>
        </p:spPr>
      </p:pic>
      <p:sp>
        <p:nvSpPr>
          <p:cNvPr id="36" name="Text 10"/>
          <p:cNvSpPr txBox="1"/>
          <p:nvPr/>
        </p:nvSpPr>
        <p:spPr>
          <a:xfrm>
            <a:off x="7608722" y="260604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check</a:t>
            </a:r>
            <a:endParaRPr lang="en-US" sz="900" dirty="0"/>
          </a:p>
        </p:txBody>
      </p:sp>
      <p:pic>
        <p:nvPicPr>
          <p:cNvPr id="37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838133" y="1691640"/>
            <a:ext cx="566928" cy="566928"/>
          </a:xfrm>
          <a:prstGeom prst="rect">
            <a:avLst/>
          </a:prstGeom>
        </p:spPr>
      </p:pic>
      <p:pic>
        <p:nvPicPr>
          <p:cNvPr id="38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8883853" y="2304288"/>
            <a:ext cx="256032" cy="256032"/>
          </a:xfrm>
          <a:prstGeom prst="rect">
            <a:avLst/>
          </a:prstGeom>
        </p:spPr>
      </p:pic>
      <p:pic>
        <p:nvPicPr>
          <p:cNvPr id="39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9167317" y="2304288"/>
            <a:ext cx="256032" cy="256032"/>
          </a:xfrm>
          <a:prstGeom prst="rect">
            <a:avLst/>
          </a:prstGeom>
        </p:spPr>
      </p:pic>
      <p:sp>
        <p:nvSpPr>
          <p:cNvPr id="40" name="Text 11"/>
          <p:cNvSpPr txBox="1"/>
          <p:nvPr/>
        </p:nvSpPr>
        <p:spPr>
          <a:xfrm>
            <a:off x="8617306" y="260604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clock</a:t>
            </a:r>
            <a:endParaRPr lang="en-US" sz="900" dirty="0"/>
          </a:p>
        </p:txBody>
      </p:sp>
      <p:pic>
        <p:nvPicPr>
          <p:cNvPr id="41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9846716" y="1691640"/>
            <a:ext cx="566928" cy="566928"/>
          </a:xfrm>
          <a:prstGeom prst="rect">
            <a:avLst/>
          </a:prstGeom>
        </p:spPr>
      </p:pic>
      <p:pic>
        <p:nvPicPr>
          <p:cNvPr id="42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892436" y="2304288"/>
            <a:ext cx="256032" cy="256032"/>
          </a:xfrm>
          <a:prstGeom prst="rect">
            <a:avLst/>
          </a:prstGeom>
        </p:spPr>
      </p:pic>
      <p:pic>
        <p:nvPicPr>
          <p:cNvPr id="43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10175900" y="2304288"/>
            <a:ext cx="256032" cy="256032"/>
          </a:xfrm>
          <a:prstGeom prst="rect">
            <a:avLst/>
          </a:prstGeom>
        </p:spPr>
      </p:pic>
      <p:sp>
        <p:nvSpPr>
          <p:cNvPr id="44" name="Text 12"/>
          <p:cNvSpPr txBox="1"/>
          <p:nvPr/>
        </p:nvSpPr>
        <p:spPr>
          <a:xfrm>
            <a:off x="9625889" y="260604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calendar</a:t>
            </a:r>
            <a:endParaRPr lang="en-US" sz="900" dirty="0"/>
          </a:p>
        </p:txBody>
      </p:sp>
      <p:pic>
        <p:nvPicPr>
          <p:cNvPr id="45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10855300" y="1691640"/>
            <a:ext cx="566928" cy="566928"/>
          </a:xfrm>
          <a:prstGeom prst="rect">
            <a:avLst/>
          </a:prstGeom>
        </p:spPr>
      </p:pic>
      <p:pic>
        <p:nvPicPr>
          <p:cNvPr id="46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0901020" y="2304288"/>
            <a:ext cx="256032" cy="256032"/>
          </a:xfrm>
          <a:prstGeom prst="rect">
            <a:avLst/>
          </a:prstGeom>
        </p:spPr>
      </p:pic>
      <p:pic>
        <p:nvPicPr>
          <p:cNvPr id="47" name="Image 32" descr="preencoded.png">    </p:cNvPr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1184484" y="2304288"/>
            <a:ext cx="256032" cy="256032"/>
          </a:xfrm>
          <a:prstGeom prst="rect">
            <a:avLst/>
          </a:prstGeom>
        </p:spPr>
      </p:pic>
      <p:sp>
        <p:nvSpPr>
          <p:cNvPr id="48" name="Text 13"/>
          <p:cNvSpPr txBox="1"/>
          <p:nvPr/>
        </p:nvSpPr>
        <p:spPr>
          <a:xfrm>
            <a:off x="10634472" y="260604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star</a:t>
            </a:r>
            <a:endParaRPr lang="en-US" sz="900" dirty="0"/>
          </a:p>
        </p:txBody>
      </p:sp>
      <p:pic>
        <p:nvPicPr>
          <p:cNvPr id="49" name="Image 33" descr="preencoded.png">    </p:cNvPr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769468" y="3108960"/>
            <a:ext cx="566928" cy="566928"/>
          </a:xfrm>
          <a:prstGeom prst="rect">
            <a:avLst/>
          </a:prstGeom>
        </p:spPr>
      </p:pic>
      <p:pic>
        <p:nvPicPr>
          <p:cNvPr id="50" name="Image 34" descr="preencoded.png">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815188" y="3721608"/>
            <a:ext cx="256032" cy="256032"/>
          </a:xfrm>
          <a:prstGeom prst="rect">
            <a:avLst/>
          </a:prstGeom>
        </p:spPr>
      </p:pic>
      <p:pic>
        <p:nvPicPr>
          <p:cNvPr id="51" name="Image 35" descr="preencoded.png">    </p:cNvPr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1098652" y="3721608"/>
            <a:ext cx="256032" cy="256032"/>
          </a:xfrm>
          <a:prstGeom prst="rect">
            <a:avLst/>
          </a:prstGeom>
        </p:spPr>
      </p:pic>
      <p:sp>
        <p:nvSpPr>
          <p:cNvPr id="52" name="Text 14"/>
          <p:cNvSpPr txBox="1"/>
          <p:nvPr/>
        </p:nvSpPr>
        <p:spPr>
          <a:xfrm>
            <a:off x="548640" y="402336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trophy</a:t>
            </a:r>
            <a:endParaRPr lang="en-US" sz="900" dirty="0"/>
          </a:p>
        </p:txBody>
      </p:sp>
      <p:pic>
        <p:nvPicPr>
          <p:cNvPr id="53" name="Image 36" descr="preencoded.png">    </p:cNvPr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1778051" y="3108960"/>
            <a:ext cx="566928" cy="566928"/>
          </a:xfrm>
          <a:prstGeom prst="rect">
            <a:avLst/>
          </a:prstGeom>
        </p:spPr>
      </p:pic>
      <p:pic>
        <p:nvPicPr>
          <p:cNvPr id="54" name="Image 37" descr="preencoded.png">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1823771" y="3721608"/>
            <a:ext cx="256032" cy="256032"/>
          </a:xfrm>
          <a:prstGeom prst="rect">
            <a:avLst/>
          </a:prstGeom>
        </p:spPr>
      </p:pic>
      <p:pic>
        <p:nvPicPr>
          <p:cNvPr id="55" name="Image 38" descr="preencoded.png">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2107235" y="3721608"/>
            <a:ext cx="256032" cy="256032"/>
          </a:xfrm>
          <a:prstGeom prst="rect">
            <a:avLst/>
          </a:prstGeom>
        </p:spPr>
      </p:pic>
      <p:sp>
        <p:nvSpPr>
          <p:cNvPr id="56" name="Text 15"/>
          <p:cNvSpPr txBox="1"/>
          <p:nvPr/>
        </p:nvSpPr>
        <p:spPr>
          <a:xfrm>
            <a:off x="1557223" y="402336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home</a:t>
            </a:r>
            <a:endParaRPr lang="en-US" sz="900" dirty="0"/>
          </a:p>
        </p:txBody>
      </p:sp>
      <p:pic>
        <p:nvPicPr>
          <p:cNvPr id="57" name="Image 39" descr="preencoded.png">    </p:cNvPr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2786634" y="3108960"/>
            <a:ext cx="566928" cy="566928"/>
          </a:xfrm>
          <a:prstGeom prst="rect">
            <a:avLst/>
          </a:prstGeom>
        </p:spPr>
      </p:pic>
      <p:pic>
        <p:nvPicPr>
          <p:cNvPr id="58" name="Image 40" descr="preencoded.png">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2832354" y="3721608"/>
            <a:ext cx="256032" cy="256032"/>
          </a:xfrm>
          <a:prstGeom prst="rect">
            <a:avLst/>
          </a:prstGeom>
        </p:spPr>
      </p:pic>
      <p:pic>
        <p:nvPicPr>
          <p:cNvPr id="59" name="Image 41" descr="preencoded.png">    </p:cNvPr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3115818" y="3721608"/>
            <a:ext cx="256032" cy="256032"/>
          </a:xfrm>
          <a:prstGeom prst="rect">
            <a:avLst/>
          </a:prstGeom>
        </p:spPr>
      </p:pic>
      <p:sp>
        <p:nvSpPr>
          <p:cNvPr id="60" name="Text 16"/>
          <p:cNvSpPr txBox="1"/>
          <p:nvPr/>
        </p:nvSpPr>
        <p:spPr>
          <a:xfrm>
            <a:off x="2565806" y="402336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route</a:t>
            </a:r>
            <a:endParaRPr lang="en-US" sz="900" dirty="0"/>
          </a:p>
        </p:txBody>
      </p:sp>
      <p:pic>
        <p:nvPicPr>
          <p:cNvPr id="61" name="Image 42" descr="preencoded.png">    </p:cNvPr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3795217" y="3108960"/>
            <a:ext cx="566928" cy="566928"/>
          </a:xfrm>
          <a:prstGeom prst="rect">
            <a:avLst/>
          </a:prstGeom>
        </p:spPr>
      </p:pic>
      <p:pic>
        <p:nvPicPr>
          <p:cNvPr id="62" name="Image 43" descr="preencoded.png">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840937" y="3721608"/>
            <a:ext cx="256032" cy="256032"/>
          </a:xfrm>
          <a:prstGeom prst="rect">
            <a:avLst/>
          </a:prstGeom>
        </p:spPr>
      </p:pic>
      <p:pic>
        <p:nvPicPr>
          <p:cNvPr id="63" name="Image 44" descr="preencoded.png">    </p:cNvPr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4124401" y="3721608"/>
            <a:ext cx="256032" cy="256032"/>
          </a:xfrm>
          <a:prstGeom prst="rect">
            <a:avLst/>
          </a:prstGeom>
        </p:spPr>
      </p:pic>
      <p:sp>
        <p:nvSpPr>
          <p:cNvPr id="64" name="Text 17"/>
          <p:cNvSpPr txBox="1"/>
          <p:nvPr/>
        </p:nvSpPr>
        <p:spPr>
          <a:xfrm>
            <a:off x="3574390" y="402336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user</a:t>
            </a:r>
            <a:endParaRPr lang="en-US" sz="900" dirty="0"/>
          </a:p>
        </p:txBody>
      </p:sp>
      <p:pic>
        <p:nvPicPr>
          <p:cNvPr id="65" name="Image 45" descr="preencoded.png">    </p:cNvPr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4803800" y="3108960"/>
            <a:ext cx="566928" cy="566928"/>
          </a:xfrm>
          <a:prstGeom prst="rect">
            <a:avLst/>
          </a:prstGeom>
        </p:spPr>
      </p:pic>
      <p:pic>
        <p:nvPicPr>
          <p:cNvPr id="66" name="Image 46" descr="preencoded.png">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849520" y="3721608"/>
            <a:ext cx="256032" cy="256032"/>
          </a:xfrm>
          <a:prstGeom prst="rect">
            <a:avLst/>
          </a:prstGeom>
        </p:spPr>
      </p:pic>
      <p:pic>
        <p:nvPicPr>
          <p:cNvPr id="67" name="Image 47" descr="preencoded.png">    </p:cNvPr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5132984" y="3721608"/>
            <a:ext cx="256032" cy="256032"/>
          </a:xfrm>
          <a:prstGeom prst="rect">
            <a:avLst/>
          </a:prstGeom>
        </p:spPr>
      </p:pic>
      <p:sp>
        <p:nvSpPr>
          <p:cNvPr id="68" name="Text 18"/>
          <p:cNvSpPr txBox="1"/>
          <p:nvPr/>
        </p:nvSpPr>
        <p:spPr>
          <a:xfrm>
            <a:off x="4582973" y="402336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users</a:t>
            </a:r>
            <a:endParaRPr lang="en-US" sz="900" dirty="0"/>
          </a:p>
        </p:txBody>
      </p:sp>
      <p:pic>
        <p:nvPicPr>
          <p:cNvPr id="69" name="Image 48" descr="preencoded.png">    </p:cNvPr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5812384" y="3108960"/>
            <a:ext cx="566928" cy="566928"/>
          </a:xfrm>
          <a:prstGeom prst="rect">
            <a:avLst/>
          </a:prstGeom>
        </p:spPr>
      </p:pic>
      <p:pic>
        <p:nvPicPr>
          <p:cNvPr id="70" name="Image 49" descr="preencoded.png">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5858104" y="3721608"/>
            <a:ext cx="256032" cy="256032"/>
          </a:xfrm>
          <a:prstGeom prst="rect">
            <a:avLst/>
          </a:prstGeom>
        </p:spPr>
      </p:pic>
      <p:pic>
        <p:nvPicPr>
          <p:cNvPr id="71" name="Image 50" descr="preencoded.png">    </p:cNvPr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6141568" y="3721608"/>
            <a:ext cx="256032" cy="256032"/>
          </a:xfrm>
          <a:prstGeom prst="rect">
            <a:avLst/>
          </a:prstGeom>
        </p:spPr>
      </p:pic>
      <p:sp>
        <p:nvSpPr>
          <p:cNvPr id="72" name="Text 19"/>
          <p:cNvSpPr txBox="1"/>
          <p:nvPr/>
        </p:nvSpPr>
        <p:spPr>
          <a:xfrm>
            <a:off x="5591556" y="402336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alert</a:t>
            </a:r>
            <a:endParaRPr lang="en-US" sz="900" dirty="0"/>
          </a:p>
        </p:txBody>
      </p:sp>
      <p:pic>
        <p:nvPicPr>
          <p:cNvPr id="73" name="Image 51" descr="preencoded.png">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6820967" y="3108960"/>
            <a:ext cx="566928" cy="566928"/>
          </a:xfrm>
          <a:prstGeom prst="rect">
            <a:avLst/>
          </a:prstGeom>
        </p:spPr>
      </p:pic>
      <p:pic>
        <p:nvPicPr>
          <p:cNvPr id="74" name="Image 52" descr="preencoded.png">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6866687" y="3721608"/>
            <a:ext cx="256032" cy="256032"/>
          </a:xfrm>
          <a:prstGeom prst="rect">
            <a:avLst/>
          </a:prstGeom>
        </p:spPr>
      </p:pic>
      <p:pic>
        <p:nvPicPr>
          <p:cNvPr id="75" name="Image 53" descr="preencoded.png">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7150151" y="3721608"/>
            <a:ext cx="256032" cy="256032"/>
          </a:xfrm>
          <a:prstGeom prst="rect">
            <a:avLst/>
          </a:prstGeom>
        </p:spPr>
      </p:pic>
      <p:sp>
        <p:nvSpPr>
          <p:cNvPr id="76" name="Text 20"/>
          <p:cNvSpPr txBox="1"/>
          <p:nvPr/>
        </p:nvSpPr>
        <p:spPr>
          <a:xfrm>
            <a:off x="6600139" y="402336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info</a:t>
            </a:r>
            <a:endParaRPr lang="en-US" sz="900" dirty="0"/>
          </a:p>
        </p:txBody>
      </p:sp>
      <p:pic>
        <p:nvPicPr>
          <p:cNvPr id="77" name="Image 54" descr="preencoded.png">    </p:cNvPr>
          <p:cNvPicPr>
            <a:picLocks noChangeAspect="1"/>
          </p:cNvPicPr>
          <p:nvPr/>
        </p:nvPicPr>
        <p:blipFill>
          <a:blip r:embed="rId55"/>
          <a:stretch>
            <a:fillRect/>
          </a:stretch>
        </p:blipFill>
        <p:spPr>
          <a:xfrm>
            <a:off x="7829550" y="3108960"/>
            <a:ext cx="566928" cy="566928"/>
          </a:xfrm>
          <a:prstGeom prst="rect">
            <a:avLst/>
          </a:prstGeom>
        </p:spPr>
      </p:pic>
      <p:pic>
        <p:nvPicPr>
          <p:cNvPr id="78" name="Image 55" descr="preencoded.png">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7875270" y="3721608"/>
            <a:ext cx="256032" cy="256032"/>
          </a:xfrm>
          <a:prstGeom prst="rect">
            <a:avLst/>
          </a:prstGeom>
        </p:spPr>
      </p:pic>
      <p:pic>
        <p:nvPicPr>
          <p:cNvPr id="79" name="Image 56" descr="preencoded.png">    </p:cNvPr>
          <p:cNvPicPr>
            <a:picLocks noChangeAspect="1"/>
          </p:cNvPicPr>
          <p:nvPr/>
        </p:nvPicPr>
        <p:blipFill>
          <a:blip r:embed="rId57"/>
          <a:stretch>
            <a:fillRect/>
          </a:stretch>
        </p:blipFill>
        <p:spPr>
          <a:xfrm>
            <a:off x="8158734" y="3721608"/>
            <a:ext cx="256032" cy="256032"/>
          </a:xfrm>
          <a:prstGeom prst="rect">
            <a:avLst/>
          </a:prstGeom>
        </p:spPr>
      </p:pic>
      <p:sp>
        <p:nvSpPr>
          <p:cNvPr id="80" name="Text 21"/>
          <p:cNvSpPr txBox="1"/>
          <p:nvPr/>
        </p:nvSpPr>
        <p:spPr>
          <a:xfrm>
            <a:off x="7608722" y="402336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wifi-off</a:t>
            </a:r>
            <a:endParaRPr lang="en-US" sz="900" dirty="0"/>
          </a:p>
        </p:txBody>
      </p:sp>
      <p:pic>
        <p:nvPicPr>
          <p:cNvPr id="81" name="Image 57" descr="preencoded.png">    </p:cNvPr>
          <p:cNvPicPr>
            <a:picLocks noChangeAspect="1"/>
          </p:cNvPicPr>
          <p:nvPr/>
        </p:nvPicPr>
        <p:blipFill>
          <a:blip r:embed="rId58"/>
          <a:stretch>
            <a:fillRect/>
          </a:stretch>
        </p:blipFill>
        <p:spPr>
          <a:xfrm>
            <a:off x="8838133" y="3108960"/>
            <a:ext cx="566928" cy="566928"/>
          </a:xfrm>
          <a:prstGeom prst="rect">
            <a:avLst/>
          </a:prstGeom>
        </p:spPr>
      </p:pic>
      <p:pic>
        <p:nvPicPr>
          <p:cNvPr id="82" name="Image 58" descr="preencoded.png">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8883853" y="3721608"/>
            <a:ext cx="256032" cy="256032"/>
          </a:xfrm>
          <a:prstGeom prst="rect">
            <a:avLst/>
          </a:prstGeom>
        </p:spPr>
      </p:pic>
      <p:pic>
        <p:nvPicPr>
          <p:cNvPr id="83" name="Image 59" descr="preencoded.png">    </p:cNvPr>
          <p:cNvPicPr>
            <a:picLocks noChangeAspect="1"/>
          </p:cNvPicPr>
          <p:nvPr/>
        </p:nvPicPr>
        <p:blipFill>
          <a:blip r:embed="rId60"/>
          <a:stretch>
            <a:fillRect/>
          </a:stretch>
        </p:blipFill>
        <p:spPr>
          <a:xfrm>
            <a:off x="9167317" y="3721608"/>
            <a:ext cx="256032" cy="256032"/>
          </a:xfrm>
          <a:prstGeom prst="rect">
            <a:avLst/>
          </a:prstGeom>
        </p:spPr>
      </p:pic>
      <p:sp>
        <p:nvSpPr>
          <p:cNvPr id="84" name="Text 22"/>
          <p:cNvSpPr txBox="1"/>
          <p:nvPr/>
        </p:nvSpPr>
        <p:spPr>
          <a:xfrm>
            <a:off x="8617306" y="402336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close</a:t>
            </a:r>
            <a:endParaRPr lang="en-US" sz="900" dirty="0"/>
          </a:p>
        </p:txBody>
      </p:sp>
      <p:pic>
        <p:nvPicPr>
          <p:cNvPr id="85" name="Image 60" descr="preencoded.png">    </p:cNvPr>
          <p:cNvPicPr>
            <a:picLocks noChangeAspect="1"/>
          </p:cNvPicPr>
          <p:nvPr/>
        </p:nvPicPr>
        <p:blipFill>
          <a:blip r:embed="rId61"/>
          <a:stretch>
            <a:fillRect/>
          </a:stretch>
        </p:blipFill>
        <p:spPr>
          <a:xfrm>
            <a:off x="9846716" y="3108960"/>
            <a:ext cx="566928" cy="566928"/>
          </a:xfrm>
          <a:prstGeom prst="rect">
            <a:avLst/>
          </a:prstGeom>
        </p:spPr>
      </p:pic>
      <p:pic>
        <p:nvPicPr>
          <p:cNvPr id="86" name="Image 61" descr="preencoded.png">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9892436" y="3721608"/>
            <a:ext cx="256032" cy="256032"/>
          </a:xfrm>
          <a:prstGeom prst="rect">
            <a:avLst/>
          </a:prstGeom>
        </p:spPr>
      </p:pic>
      <p:pic>
        <p:nvPicPr>
          <p:cNvPr id="87" name="Image 62" descr="preencoded.png">    </p:cNvPr>
          <p:cNvPicPr>
            <a:picLocks noChangeAspect="1"/>
          </p:cNvPicPr>
          <p:nvPr/>
        </p:nvPicPr>
        <p:blipFill>
          <a:blip r:embed="rId63"/>
          <a:stretch>
            <a:fillRect/>
          </a:stretch>
        </p:blipFill>
        <p:spPr>
          <a:xfrm>
            <a:off x="10175900" y="3721608"/>
            <a:ext cx="256032" cy="256032"/>
          </a:xfrm>
          <a:prstGeom prst="rect">
            <a:avLst/>
          </a:prstGeom>
        </p:spPr>
      </p:pic>
      <p:sp>
        <p:nvSpPr>
          <p:cNvPr id="88" name="Text 23"/>
          <p:cNvSpPr txBox="1"/>
          <p:nvPr/>
        </p:nvSpPr>
        <p:spPr>
          <a:xfrm>
            <a:off x="9625889" y="402336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bulb</a:t>
            </a:r>
            <a:endParaRPr lang="en-US" sz="900" dirty="0"/>
          </a:p>
        </p:txBody>
      </p:sp>
      <p:pic>
        <p:nvPicPr>
          <p:cNvPr id="89" name="Image 63" descr="preencoded.png">    </p:cNvPr>
          <p:cNvPicPr>
            <a:picLocks noChangeAspect="1"/>
          </p:cNvPicPr>
          <p:nvPr/>
        </p:nvPicPr>
        <p:blipFill>
          <a:blip r:embed="rId64"/>
          <a:stretch>
            <a:fillRect/>
          </a:stretch>
        </p:blipFill>
        <p:spPr>
          <a:xfrm>
            <a:off x="10855300" y="3108960"/>
            <a:ext cx="566928" cy="566928"/>
          </a:xfrm>
          <a:prstGeom prst="rect">
            <a:avLst/>
          </a:prstGeom>
        </p:spPr>
      </p:pic>
      <p:pic>
        <p:nvPicPr>
          <p:cNvPr id="90" name="Image 64" descr="preencoded.png">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10901020" y="3721608"/>
            <a:ext cx="256032" cy="256032"/>
          </a:xfrm>
          <a:prstGeom prst="rect">
            <a:avLst/>
          </a:prstGeom>
        </p:spPr>
      </p:pic>
      <p:pic>
        <p:nvPicPr>
          <p:cNvPr id="91" name="Image 65" descr="preencoded.png">    </p:cNvPr>
          <p:cNvPicPr>
            <a:picLocks noChangeAspect="1"/>
          </p:cNvPicPr>
          <p:nvPr/>
        </p:nvPicPr>
        <p:blipFill>
          <a:blip r:embed="rId66"/>
          <a:stretch>
            <a:fillRect/>
          </a:stretch>
        </p:blipFill>
        <p:spPr>
          <a:xfrm>
            <a:off x="11184484" y="3721608"/>
            <a:ext cx="256032" cy="256032"/>
          </a:xfrm>
          <a:prstGeom prst="rect">
            <a:avLst/>
          </a:prstGeom>
        </p:spPr>
      </p:pic>
      <p:sp>
        <p:nvSpPr>
          <p:cNvPr id="92" name="Text 24"/>
          <p:cNvSpPr txBox="1"/>
          <p:nvPr/>
        </p:nvSpPr>
        <p:spPr>
          <a:xfrm>
            <a:off x="10634472" y="402336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rocket</a:t>
            </a:r>
            <a:endParaRPr lang="en-US" sz="900" dirty="0"/>
          </a:p>
        </p:txBody>
      </p:sp>
      <p:pic>
        <p:nvPicPr>
          <p:cNvPr id="93" name="Image 66" descr="preencoded.png">    </p:cNvPr>
          <p:cNvPicPr>
            <a:picLocks noChangeAspect="1"/>
          </p:cNvPicPr>
          <p:nvPr/>
        </p:nvPicPr>
        <p:blipFill>
          <a:blip r:embed="rId67"/>
          <a:stretch>
            <a:fillRect/>
          </a:stretch>
        </p:blipFill>
        <p:spPr>
          <a:xfrm>
            <a:off x="769468" y="4526280"/>
            <a:ext cx="566928" cy="566928"/>
          </a:xfrm>
          <a:prstGeom prst="rect">
            <a:avLst/>
          </a:prstGeom>
        </p:spPr>
      </p:pic>
      <p:pic>
        <p:nvPicPr>
          <p:cNvPr id="94" name="Image 67" descr="preencoded.png">    </p:cNvPr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815188" y="5138928"/>
            <a:ext cx="256032" cy="256032"/>
          </a:xfrm>
          <a:prstGeom prst="rect">
            <a:avLst/>
          </a:prstGeom>
        </p:spPr>
      </p:pic>
      <p:pic>
        <p:nvPicPr>
          <p:cNvPr id="95" name="Image 68" descr="preencoded.png">    </p:cNvPr>
          <p:cNvPicPr>
            <a:picLocks noChangeAspect="1"/>
          </p:cNvPicPr>
          <p:nvPr/>
        </p:nvPicPr>
        <p:blipFill>
          <a:blip r:embed="rId69"/>
          <a:stretch>
            <a:fillRect/>
          </a:stretch>
        </p:blipFill>
        <p:spPr>
          <a:xfrm>
            <a:off x="1098652" y="5138928"/>
            <a:ext cx="256032" cy="256032"/>
          </a:xfrm>
          <a:prstGeom prst="rect">
            <a:avLst/>
          </a:prstGeom>
        </p:spPr>
      </p:pic>
      <p:sp>
        <p:nvSpPr>
          <p:cNvPr id="96" name="Text 25"/>
          <p:cNvSpPr txBox="1"/>
          <p:nvPr/>
        </p:nvSpPr>
        <p:spPr>
          <a:xfrm>
            <a:off x="548640" y="544068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tool</a:t>
            </a:r>
            <a:endParaRPr lang="en-US" sz="900" dirty="0"/>
          </a:p>
        </p:txBody>
      </p:sp>
      <p:pic>
        <p:nvPicPr>
          <p:cNvPr id="97" name="Image 69" descr="preencoded.png">    </p:cNvPr>
          <p:cNvPicPr>
            <a:picLocks noChangeAspect="1"/>
          </p:cNvPicPr>
          <p:nvPr/>
        </p:nvPicPr>
        <p:blipFill>
          <a:blip r:embed="rId70"/>
          <a:stretch>
            <a:fillRect/>
          </a:stretch>
        </p:blipFill>
        <p:spPr>
          <a:xfrm>
            <a:off x="1778051" y="4526280"/>
            <a:ext cx="566928" cy="566928"/>
          </a:xfrm>
          <a:prstGeom prst="rect">
            <a:avLst/>
          </a:prstGeom>
        </p:spPr>
      </p:pic>
      <p:pic>
        <p:nvPicPr>
          <p:cNvPr id="98" name="Image 70" descr="preencoded.png">    </p:cNvPr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1823771" y="5138928"/>
            <a:ext cx="256032" cy="256032"/>
          </a:xfrm>
          <a:prstGeom prst="rect">
            <a:avLst/>
          </a:prstGeom>
        </p:spPr>
      </p:pic>
      <p:pic>
        <p:nvPicPr>
          <p:cNvPr id="99" name="Image 71" descr="preencoded.png">    </p:cNvPr>
          <p:cNvPicPr>
            <a:picLocks noChangeAspect="1"/>
          </p:cNvPicPr>
          <p:nvPr/>
        </p:nvPicPr>
        <p:blipFill>
          <a:blip r:embed="rId72"/>
          <a:stretch>
            <a:fillRect/>
          </a:stretch>
        </p:blipFill>
        <p:spPr>
          <a:xfrm>
            <a:off x="2107235" y="5138928"/>
            <a:ext cx="256032" cy="256032"/>
          </a:xfrm>
          <a:prstGeom prst="rect">
            <a:avLst/>
          </a:prstGeom>
        </p:spPr>
      </p:pic>
      <p:sp>
        <p:nvSpPr>
          <p:cNvPr id="100" name="Text 26"/>
          <p:cNvSpPr txBox="1"/>
          <p:nvPr/>
        </p:nvSpPr>
        <p:spPr>
          <a:xfrm>
            <a:off x="1557223" y="544068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clipboard</a:t>
            </a:r>
            <a:endParaRPr lang="en-US" sz="900" dirty="0"/>
          </a:p>
        </p:txBody>
      </p:sp>
      <p:pic>
        <p:nvPicPr>
          <p:cNvPr id="101" name="Image 72" descr="preencoded.png">    </p:cNvPr>
          <p:cNvPicPr>
            <a:picLocks noChangeAspect="1"/>
          </p:cNvPicPr>
          <p:nvPr/>
        </p:nvPicPr>
        <p:blipFill>
          <a:blip r:embed="rId73"/>
          <a:stretch>
            <a:fillRect/>
          </a:stretch>
        </p:blipFill>
        <p:spPr>
          <a:xfrm>
            <a:off x="2786634" y="4526280"/>
            <a:ext cx="566928" cy="566928"/>
          </a:xfrm>
          <a:prstGeom prst="rect">
            <a:avLst/>
          </a:prstGeom>
        </p:spPr>
      </p:pic>
      <p:pic>
        <p:nvPicPr>
          <p:cNvPr id="102" name="Image 73" descr="preencoded.png">    </p:cNvPr>
          <p:cNvPicPr>
            <a:picLocks noChangeAspect="1"/>
          </p:cNvPicPr>
          <p:nvPr/>
        </p:nvPicPr>
        <p:blipFill>
          <a:blip r:embed="rId74"/>
          <a:stretch>
            <a:fillRect/>
          </a:stretch>
        </p:blipFill>
        <p:spPr>
          <a:xfrm>
            <a:off x="2832354" y="5138928"/>
            <a:ext cx="256032" cy="256032"/>
          </a:xfrm>
          <a:prstGeom prst="rect">
            <a:avLst/>
          </a:prstGeom>
        </p:spPr>
      </p:pic>
      <p:pic>
        <p:nvPicPr>
          <p:cNvPr id="103" name="Image 74" descr="preencoded.png">    </p:cNvPr>
          <p:cNvPicPr>
            <a:picLocks noChangeAspect="1"/>
          </p:cNvPicPr>
          <p:nvPr/>
        </p:nvPicPr>
        <p:blipFill>
          <a:blip r:embed="rId75"/>
          <a:stretch>
            <a:fillRect/>
          </a:stretch>
        </p:blipFill>
        <p:spPr>
          <a:xfrm>
            <a:off x="3115818" y="5138928"/>
            <a:ext cx="256032" cy="256032"/>
          </a:xfrm>
          <a:prstGeom prst="rect">
            <a:avLst/>
          </a:prstGeom>
        </p:spPr>
      </p:pic>
      <p:sp>
        <p:nvSpPr>
          <p:cNvPr id="104" name="Text 27"/>
          <p:cNvSpPr txBox="1"/>
          <p:nvPr/>
        </p:nvSpPr>
        <p:spPr>
          <a:xfrm>
            <a:off x="2565806" y="544068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chat</a:t>
            </a:r>
            <a:endParaRPr lang="en-US" sz="900" dirty="0"/>
          </a:p>
        </p:txBody>
      </p:sp>
      <p:pic>
        <p:nvPicPr>
          <p:cNvPr id="105" name="Image 75" descr="preencoded.png">    </p:cNvPr>
          <p:cNvPicPr>
            <a:picLocks noChangeAspect="1"/>
          </p:cNvPicPr>
          <p:nvPr/>
        </p:nvPicPr>
        <p:blipFill>
          <a:blip r:embed="rId76"/>
          <a:stretch>
            <a:fillRect/>
          </a:stretch>
        </p:blipFill>
        <p:spPr>
          <a:xfrm>
            <a:off x="3795217" y="4526280"/>
            <a:ext cx="566928" cy="566928"/>
          </a:xfrm>
          <a:prstGeom prst="rect">
            <a:avLst/>
          </a:prstGeom>
        </p:spPr>
      </p:pic>
      <p:pic>
        <p:nvPicPr>
          <p:cNvPr id="106" name="Image 76" descr="preencoded.png">    </p:cNvPr>
          <p:cNvPicPr>
            <a:picLocks noChangeAspect="1"/>
          </p:cNvPicPr>
          <p:nvPr/>
        </p:nvPicPr>
        <p:blipFill>
          <a:blip r:embed="rId77"/>
          <a:stretch>
            <a:fillRect/>
          </a:stretch>
        </p:blipFill>
        <p:spPr>
          <a:xfrm>
            <a:off x="3840937" y="5138928"/>
            <a:ext cx="256032" cy="256032"/>
          </a:xfrm>
          <a:prstGeom prst="rect">
            <a:avLst/>
          </a:prstGeom>
        </p:spPr>
      </p:pic>
      <p:pic>
        <p:nvPicPr>
          <p:cNvPr id="107" name="Image 77" descr="preencoded.png">    </p:cNvPr>
          <p:cNvPicPr>
            <a:picLocks noChangeAspect="1"/>
          </p:cNvPicPr>
          <p:nvPr/>
        </p:nvPicPr>
        <p:blipFill>
          <a:blip r:embed="rId78"/>
          <a:stretch>
            <a:fillRect/>
          </a:stretch>
        </p:blipFill>
        <p:spPr>
          <a:xfrm>
            <a:off x="4124401" y="5138928"/>
            <a:ext cx="256032" cy="256032"/>
          </a:xfrm>
          <a:prstGeom prst="rect">
            <a:avLst/>
          </a:prstGeom>
        </p:spPr>
      </p:pic>
      <p:sp>
        <p:nvSpPr>
          <p:cNvPr id="108" name="Text 28"/>
          <p:cNvSpPr txBox="1"/>
          <p:nvPr/>
        </p:nvSpPr>
        <p:spPr>
          <a:xfrm>
            <a:off x="3574390" y="544068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lock</a:t>
            </a:r>
            <a:endParaRPr lang="en-US" sz="900" dirty="0"/>
          </a:p>
        </p:txBody>
      </p:sp>
      <p:pic>
        <p:nvPicPr>
          <p:cNvPr id="109" name="Image 78" descr="preencoded.png">    </p:cNvPr>
          <p:cNvPicPr>
            <a:picLocks noChangeAspect="1"/>
          </p:cNvPicPr>
          <p:nvPr/>
        </p:nvPicPr>
        <p:blipFill>
          <a:blip r:embed="rId79"/>
          <a:stretch>
            <a:fillRect/>
          </a:stretch>
        </p:blipFill>
        <p:spPr>
          <a:xfrm>
            <a:off x="4803800" y="4526280"/>
            <a:ext cx="566928" cy="566928"/>
          </a:xfrm>
          <a:prstGeom prst="rect">
            <a:avLst/>
          </a:prstGeom>
        </p:spPr>
      </p:pic>
      <p:pic>
        <p:nvPicPr>
          <p:cNvPr id="110" name="Image 79" descr="preencoded.png">    </p:cNvPr>
          <p:cNvPicPr>
            <a:picLocks noChangeAspect="1"/>
          </p:cNvPicPr>
          <p:nvPr/>
        </p:nvPicPr>
        <p:blipFill>
          <a:blip r:embed="rId80"/>
          <a:stretch>
            <a:fillRect/>
          </a:stretch>
        </p:blipFill>
        <p:spPr>
          <a:xfrm>
            <a:off x="4849520" y="5138928"/>
            <a:ext cx="256032" cy="256032"/>
          </a:xfrm>
          <a:prstGeom prst="rect">
            <a:avLst/>
          </a:prstGeom>
        </p:spPr>
      </p:pic>
      <p:pic>
        <p:nvPicPr>
          <p:cNvPr id="111" name="Image 80" descr="preencoded.png">    </p:cNvPr>
          <p:cNvPicPr>
            <a:picLocks noChangeAspect="1"/>
          </p:cNvPicPr>
          <p:nvPr/>
        </p:nvPicPr>
        <p:blipFill>
          <a:blip r:embed="rId81"/>
          <a:stretch>
            <a:fillRect/>
          </a:stretch>
        </p:blipFill>
        <p:spPr>
          <a:xfrm>
            <a:off x="5132984" y="5138928"/>
            <a:ext cx="256032" cy="256032"/>
          </a:xfrm>
          <a:prstGeom prst="rect">
            <a:avLst/>
          </a:prstGeom>
        </p:spPr>
      </p:pic>
      <p:sp>
        <p:nvSpPr>
          <p:cNvPr id="112" name="Text 29"/>
          <p:cNvSpPr txBox="1"/>
          <p:nvPr/>
        </p:nvSpPr>
        <p:spPr>
          <a:xfrm>
            <a:off x="4582973" y="544068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refresh</a:t>
            </a:r>
            <a:endParaRPr lang="en-US" sz="900" dirty="0"/>
          </a:p>
        </p:txBody>
      </p:sp>
      <p:pic>
        <p:nvPicPr>
          <p:cNvPr id="113" name="Image 81" descr="preencoded.png">    </p:cNvPr>
          <p:cNvPicPr>
            <a:picLocks noChangeAspect="1"/>
          </p:cNvPicPr>
          <p:nvPr/>
        </p:nvPicPr>
        <p:blipFill>
          <a:blip r:embed="rId82"/>
          <a:stretch>
            <a:fillRect/>
          </a:stretch>
        </p:blipFill>
        <p:spPr>
          <a:xfrm>
            <a:off x="5812384" y="4526280"/>
            <a:ext cx="566928" cy="566928"/>
          </a:xfrm>
          <a:prstGeom prst="rect">
            <a:avLst/>
          </a:prstGeom>
        </p:spPr>
      </p:pic>
      <p:pic>
        <p:nvPicPr>
          <p:cNvPr id="114" name="Image 82" descr="preencoded.png">    </p:cNvPr>
          <p:cNvPicPr>
            <a:picLocks noChangeAspect="1"/>
          </p:cNvPicPr>
          <p:nvPr/>
        </p:nvPicPr>
        <p:blipFill>
          <a:blip r:embed="rId83"/>
          <a:stretch>
            <a:fillRect/>
          </a:stretch>
        </p:blipFill>
        <p:spPr>
          <a:xfrm>
            <a:off x="5858104" y="5138928"/>
            <a:ext cx="256032" cy="256032"/>
          </a:xfrm>
          <a:prstGeom prst="rect">
            <a:avLst/>
          </a:prstGeom>
        </p:spPr>
      </p:pic>
      <p:pic>
        <p:nvPicPr>
          <p:cNvPr id="115" name="Image 83" descr="preencoded.png">    </p:cNvPr>
          <p:cNvPicPr>
            <a:picLocks noChangeAspect="1"/>
          </p:cNvPicPr>
          <p:nvPr/>
        </p:nvPicPr>
        <p:blipFill>
          <a:blip r:embed="rId84"/>
          <a:stretch>
            <a:fillRect/>
          </a:stretch>
        </p:blipFill>
        <p:spPr>
          <a:xfrm>
            <a:off x="6141568" y="5138928"/>
            <a:ext cx="256032" cy="256032"/>
          </a:xfrm>
          <a:prstGeom prst="rect">
            <a:avLst/>
          </a:prstGeom>
        </p:spPr>
      </p:pic>
      <p:sp>
        <p:nvSpPr>
          <p:cNvPr id="116" name="Text 30"/>
          <p:cNvSpPr txBox="1"/>
          <p:nvPr/>
        </p:nvSpPr>
        <p:spPr>
          <a:xfrm>
            <a:off x="5591556" y="544068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id-card</a:t>
            </a:r>
            <a:endParaRPr lang="en-US" sz="900" dirty="0"/>
          </a:p>
        </p:txBody>
      </p:sp>
      <p:pic>
        <p:nvPicPr>
          <p:cNvPr id="117" name="Image 84" descr="preencoded.png">    </p:cNvPr>
          <p:cNvPicPr>
            <a:picLocks noChangeAspect="1"/>
          </p:cNvPicPr>
          <p:nvPr/>
        </p:nvPicPr>
        <p:blipFill>
          <a:blip r:embed="rId85"/>
          <a:stretch>
            <a:fillRect/>
          </a:stretch>
        </p:blipFill>
        <p:spPr>
          <a:xfrm>
            <a:off x="6820967" y="4526280"/>
            <a:ext cx="566928" cy="566928"/>
          </a:xfrm>
          <a:prstGeom prst="rect">
            <a:avLst/>
          </a:prstGeom>
        </p:spPr>
      </p:pic>
      <p:pic>
        <p:nvPicPr>
          <p:cNvPr id="118" name="Image 85" descr="preencoded.png">    </p:cNvPr>
          <p:cNvPicPr>
            <a:picLocks noChangeAspect="1"/>
          </p:cNvPicPr>
          <p:nvPr/>
        </p:nvPicPr>
        <p:blipFill>
          <a:blip r:embed="rId86"/>
          <a:stretch>
            <a:fillRect/>
          </a:stretch>
        </p:blipFill>
        <p:spPr>
          <a:xfrm>
            <a:off x="6866687" y="5138928"/>
            <a:ext cx="256032" cy="256032"/>
          </a:xfrm>
          <a:prstGeom prst="rect">
            <a:avLst/>
          </a:prstGeom>
        </p:spPr>
      </p:pic>
      <p:pic>
        <p:nvPicPr>
          <p:cNvPr id="119" name="Image 86" descr="preencoded.png">    </p:cNvPr>
          <p:cNvPicPr>
            <a:picLocks noChangeAspect="1"/>
          </p:cNvPicPr>
          <p:nvPr/>
        </p:nvPicPr>
        <p:blipFill>
          <a:blip r:embed="rId87"/>
          <a:stretch>
            <a:fillRect/>
          </a:stretch>
        </p:blipFill>
        <p:spPr>
          <a:xfrm>
            <a:off x="7150151" y="5138928"/>
            <a:ext cx="256032" cy="256032"/>
          </a:xfrm>
          <a:prstGeom prst="rect">
            <a:avLst/>
          </a:prstGeom>
        </p:spPr>
      </p:pic>
      <p:sp>
        <p:nvSpPr>
          <p:cNvPr id="120" name="Text 31"/>
          <p:cNvSpPr txBox="1"/>
          <p:nvPr/>
        </p:nvSpPr>
        <p:spPr>
          <a:xfrm>
            <a:off x="6600139" y="544068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circle-empty</a:t>
            </a:r>
            <a:endParaRPr lang="en-US" sz="900" dirty="0"/>
          </a:p>
        </p:txBody>
      </p:sp>
      <p:pic>
        <p:nvPicPr>
          <p:cNvPr id="121" name="Image 87" descr="preencoded.png">    </p:cNvPr>
          <p:cNvPicPr>
            <a:picLocks noChangeAspect="1"/>
          </p:cNvPicPr>
          <p:nvPr/>
        </p:nvPicPr>
        <p:blipFill>
          <a:blip r:embed="rId88"/>
          <a:stretch>
            <a:fillRect/>
          </a:stretch>
        </p:blipFill>
        <p:spPr>
          <a:xfrm>
            <a:off x="7829550" y="4526280"/>
            <a:ext cx="566928" cy="566928"/>
          </a:xfrm>
          <a:prstGeom prst="rect">
            <a:avLst/>
          </a:prstGeom>
        </p:spPr>
      </p:pic>
      <p:pic>
        <p:nvPicPr>
          <p:cNvPr id="122" name="Image 88" descr="preencoded.png">    </p:cNvPr>
          <p:cNvPicPr>
            <a:picLocks noChangeAspect="1"/>
          </p:cNvPicPr>
          <p:nvPr/>
        </p:nvPicPr>
        <p:blipFill>
          <a:blip r:embed="rId89"/>
          <a:stretch>
            <a:fillRect/>
          </a:stretch>
        </p:blipFill>
        <p:spPr>
          <a:xfrm>
            <a:off x="7875270" y="5138928"/>
            <a:ext cx="256032" cy="256032"/>
          </a:xfrm>
          <a:prstGeom prst="rect">
            <a:avLst/>
          </a:prstGeom>
        </p:spPr>
      </p:pic>
      <p:pic>
        <p:nvPicPr>
          <p:cNvPr id="123" name="Image 89" descr="preencoded.png">    </p:cNvPr>
          <p:cNvPicPr>
            <a:picLocks noChangeAspect="1"/>
          </p:cNvPicPr>
          <p:nvPr/>
        </p:nvPicPr>
        <p:blipFill>
          <a:blip r:embed="rId90"/>
          <a:stretch>
            <a:fillRect/>
          </a:stretch>
        </p:blipFill>
        <p:spPr>
          <a:xfrm>
            <a:off x="8158734" y="5138928"/>
            <a:ext cx="256032" cy="256032"/>
          </a:xfrm>
          <a:prstGeom prst="rect">
            <a:avLst/>
          </a:prstGeom>
        </p:spPr>
      </p:pic>
      <p:sp>
        <p:nvSpPr>
          <p:cNvPr id="124" name="Text 32"/>
          <p:cNvSpPr txBox="1"/>
          <p:nvPr/>
        </p:nvSpPr>
        <p:spPr>
          <a:xfrm>
            <a:off x="7608722" y="544068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circle-half</a:t>
            </a:r>
            <a:endParaRPr lang="en-US" sz="900" dirty="0"/>
          </a:p>
        </p:txBody>
      </p:sp>
      <p:pic>
        <p:nvPicPr>
          <p:cNvPr id="125" name="Image 90" descr="preencoded.png">    </p:cNvPr>
          <p:cNvPicPr>
            <a:picLocks noChangeAspect="1"/>
          </p:cNvPicPr>
          <p:nvPr/>
        </p:nvPicPr>
        <p:blipFill>
          <a:blip r:embed="rId91"/>
          <a:stretch>
            <a:fillRect/>
          </a:stretch>
        </p:blipFill>
        <p:spPr>
          <a:xfrm>
            <a:off x="8838133" y="4526280"/>
            <a:ext cx="566928" cy="566928"/>
          </a:xfrm>
          <a:prstGeom prst="rect">
            <a:avLst/>
          </a:prstGeom>
        </p:spPr>
      </p:pic>
      <p:pic>
        <p:nvPicPr>
          <p:cNvPr id="126" name="Image 91" descr="preencoded.png">    </p:cNvPr>
          <p:cNvPicPr>
            <a:picLocks noChangeAspect="1"/>
          </p:cNvPicPr>
          <p:nvPr/>
        </p:nvPicPr>
        <p:blipFill>
          <a:blip r:embed="rId92"/>
          <a:stretch>
            <a:fillRect/>
          </a:stretch>
        </p:blipFill>
        <p:spPr>
          <a:xfrm>
            <a:off x="8883853" y="5138928"/>
            <a:ext cx="256032" cy="256032"/>
          </a:xfrm>
          <a:prstGeom prst="rect">
            <a:avLst/>
          </a:prstGeom>
        </p:spPr>
      </p:pic>
      <p:pic>
        <p:nvPicPr>
          <p:cNvPr id="127" name="Image 92" descr="preencoded.png">    </p:cNvPr>
          <p:cNvPicPr>
            <a:picLocks noChangeAspect="1"/>
          </p:cNvPicPr>
          <p:nvPr/>
        </p:nvPicPr>
        <p:blipFill>
          <a:blip r:embed="rId93"/>
          <a:stretch>
            <a:fillRect/>
          </a:stretch>
        </p:blipFill>
        <p:spPr>
          <a:xfrm>
            <a:off x="9167317" y="5138928"/>
            <a:ext cx="256032" cy="256032"/>
          </a:xfrm>
          <a:prstGeom prst="rect">
            <a:avLst/>
          </a:prstGeom>
        </p:spPr>
      </p:pic>
      <p:sp>
        <p:nvSpPr>
          <p:cNvPr id="128" name="Text 33"/>
          <p:cNvSpPr txBox="1"/>
          <p:nvPr/>
        </p:nvSpPr>
        <p:spPr>
          <a:xfrm>
            <a:off x="8617306" y="544068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circle-check</a:t>
            </a:r>
            <a:endParaRPr lang="en-US" sz="900" dirty="0"/>
          </a:p>
        </p:txBody>
      </p:sp>
      <p:pic>
        <p:nvPicPr>
          <p:cNvPr id="129" name="Image 93" descr="preencoded.png">    </p:cNvPr>
          <p:cNvPicPr>
            <a:picLocks noChangeAspect="1"/>
          </p:cNvPicPr>
          <p:nvPr/>
        </p:nvPicPr>
        <p:blipFill>
          <a:blip r:embed="rId94"/>
          <a:stretch>
            <a:fillRect/>
          </a:stretch>
        </p:blipFill>
        <p:spPr>
          <a:xfrm>
            <a:off x="9846716" y="4526280"/>
            <a:ext cx="566928" cy="566928"/>
          </a:xfrm>
          <a:prstGeom prst="rect">
            <a:avLst/>
          </a:prstGeom>
        </p:spPr>
      </p:pic>
      <p:pic>
        <p:nvPicPr>
          <p:cNvPr id="130" name="Image 94" descr="preencoded.png">    </p:cNvPr>
          <p:cNvPicPr>
            <a:picLocks noChangeAspect="1"/>
          </p:cNvPicPr>
          <p:nvPr/>
        </p:nvPicPr>
        <p:blipFill>
          <a:blip r:embed="rId95"/>
          <a:stretch>
            <a:fillRect/>
          </a:stretch>
        </p:blipFill>
        <p:spPr>
          <a:xfrm>
            <a:off x="9892436" y="5138928"/>
            <a:ext cx="256032" cy="256032"/>
          </a:xfrm>
          <a:prstGeom prst="rect">
            <a:avLst/>
          </a:prstGeom>
        </p:spPr>
      </p:pic>
      <p:pic>
        <p:nvPicPr>
          <p:cNvPr id="131" name="Image 95" descr="preencoded.png">    </p:cNvPr>
          <p:cNvPicPr>
            <a:picLocks noChangeAspect="1"/>
          </p:cNvPicPr>
          <p:nvPr/>
        </p:nvPicPr>
        <p:blipFill>
          <a:blip r:embed="rId96"/>
          <a:stretch>
            <a:fillRect/>
          </a:stretch>
        </p:blipFill>
        <p:spPr>
          <a:xfrm>
            <a:off x="10175900" y="5138928"/>
            <a:ext cx="256032" cy="256032"/>
          </a:xfrm>
          <a:prstGeom prst="rect">
            <a:avLst/>
          </a:prstGeom>
        </p:spPr>
      </p:pic>
      <p:sp>
        <p:nvSpPr>
          <p:cNvPr id="132" name="Text 34"/>
          <p:cNvSpPr txBox="1"/>
          <p:nvPr/>
        </p:nvSpPr>
        <p:spPr>
          <a:xfrm>
            <a:off x="9625889" y="544068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menu</a:t>
            </a:r>
            <a:endParaRPr lang="en-US" sz="900" dirty="0"/>
          </a:p>
        </p:txBody>
      </p:sp>
      <p:pic>
        <p:nvPicPr>
          <p:cNvPr id="133" name="Image 96" descr="preencoded.png">    </p:cNvPr>
          <p:cNvPicPr>
            <a:picLocks noChangeAspect="1"/>
          </p:cNvPicPr>
          <p:nvPr/>
        </p:nvPicPr>
        <p:blipFill>
          <a:blip r:embed="rId97"/>
          <a:stretch>
            <a:fillRect/>
          </a:stretch>
        </p:blipFill>
        <p:spPr>
          <a:xfrm>
            <a:off x="10855300" y="4526280"/>
            <a:ext cx="566928" cy="566928"/>
          </a:xfrm>
          <a:prstGeom prst="rect">
            <a:avLst/>
          </a:prstGeom>
        </p:spPr>
      </p:pic>
      <p:pic>
        <p:nvPicPr>
          <p:cNvPr id="134" name="Image 97" descr="preencoded.png">    </p:cNvPr>
          <p:cNvPicPr>
            <a:picLocks noChangeAspect="1"/>
          </p:cNvPicPr>
          <p:nvPr/>
        </p:nvPicPr>
        <p:blipFill>
          <a:blip r:embed="rId98"/>
          <a:stretch>
            <a:fillRect/>
          </a:stretch>
        </p:blipFill>
        <p:spPr>
          <a:xfrm>
            <a:off x="10901020" y="5138928"/>
            <a:ext cx="256032" cy="256032"/>
          </a:xfrm>
          <a:prstGeom prst="rect">
            <a:avLst/>
          </a:prstGeom>
        </p:spPr>
      </p:pic>
      <p:pic>
        <p:nvPicPr>
          <p:cNvPr id="135" name="Image 98" descr="preencoded.png">    </p:cNvPr>
          <p:cNvPicPr>
            <a:picLocks noChangeAspect="1"/>
          </p:cNvPicPr>
          <p:nvPr/>
        </p:nvPicPr>
        <p:blipFill>
          <a:blip r:embed="rId99"/>
          <a:stretch>
            <a:fillRect/>
          </a:stretch>
        </p:blipFill>
        <p:spPr>
          <a:xfrm>
            <a:off x="11184484" y="5138928"/>
            <a:ext cx="256032" cy="256032"/>
          </a:xfrm>
          <a:prstGeom prst="rect">
            <a:avLst/>
          </a:prstGeom>
        </p:spPr>
      </p:pic>
      <p:sp>
        <p:nvSpPr>
          <p:cNvPr id="136" name="Text 35"/>
          <p:cNvSpPr txBox="1"/>
          <p:nvPr/>
        </p:nvSpPr>
        <p:spPr>
          <a:xfrm>
            <a:off x="10634472" y="5440680"/>
            <a:ext cx="100858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6564F"/>
                </a:solidFill>
                <a:latin typeface="Atkinson Hyperlegible Next" pitchFamily="34" charset="0"/>
                <a:ea typeface="Atkinson Hyperlegible Next" pitchFamily="34" charset="-122"/>
                <a:cs typeface="Atkinson Hyperlegible Next" pitchFamily="34" charset="-120"/>
              </a:rPr>
              <a:t>medal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chemeClr val="tx2"/>
                </a:solidFill>
                <a:latin typeface="Barlow Condensed"/>
                <a:ea typeface="Barlow Condensed"/>
                <a:cs typeface="Barlow Condensed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mpus Pivot · Super Humanos">
  <a:themeElements>
    <a:clrScheme name="Campus Pivot · Super Humanos">
      <a:dk1>
        <a:srgbClr val="0D0D0C"/>
      </a:dk1>
      <a:lt1>
        <a:srgbClr val="FFFFFF"/>
      </a:lt1>
      <a:dk2>
        <a:srgbClr val="3D3D38"/>
      </a:dk2>
      <a:lt2>
        <a:srgbClr val="F7F7F5"/>
      </a:lt2>
      <a:accent1>
        <a:srgbClr val="FCC800"/>
      </a:accent1>
      <a:accent2>
        <a:srgbClr val="8A6B00"/>
      </a:accent2>
      <a:accent3>
        <a:srgbClr val="56564F"/>
      </a:accent3>
      <a:accent4>
        <a:srgbClr val="15702F"/>
      </a:accent4>
      <a:accent5>
        <a:srgbClr val="1D5FBF"/>
      </a:accent5>
      <a:accent6>
        <a:srgbClr val="B54708"/>
      </a:accent6>
      <a:hlink>
        <a:srgbClr val="0D0D0C"/>
      </a:hlink>
      <a:folHlink>
        <a:srgbClr val="56564F"/>
      </a:folHlink>
    </a:clrScheme>
    <a:fontScheme name="Campus Pivot · Super Humanos">
      <a:majorFont>
        <a:latin typeface="Barlow Condense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tkinson Hyperlegible Nex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Pivot Power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Plantilla taller · Consultorio</dc:title>
  <dc:subject>PptxGenJS Presentation</dc:subject>
  <dc:creator>Pivot Power</dc:creator>
  <cp:lastModifiedBy>Pivot Power</cp:lastModifiedBy>
  <cp:revision>1</cp:revision>
  <dcterms:created xsi:type="dcterms:W3CDTF">2026-10-03T21:18:13Z</dcterms:created>
  <dcterms:modified xsi:type="dcterms:W3CDTF">2026-10-03T21:18:13Z</dcterms:modified>
</cp:coreProperties>
</file>