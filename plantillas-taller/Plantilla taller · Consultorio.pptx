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sultorio" id="{df4e1b8d-539c-4463-a702-920efe5f12f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consultorio. Cambia los marcadores. La hora es fija: 4:00 a 5:00 p. m. Si cambia la regla, cámbiala aquí y en la diapositiva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qué sirve. Tres razones para venir y la tarjeta negra con lo que el consultorio no exige. Este contenido no cambia entre talleres.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del consultorio. Los minutos son orientativos: la hora se adapta a las dudas que lleguen.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de apertura. Tres como máximo. Escríbelas para el taller: las de la plantilla son ejemplos.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Tablero de dudas. Se llena en vivo. Cada estado lleva palabra e ícono, sin depender del color. Si hay más de seis dudas, duplica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Resolución en vivo. Cambia el texto del antetítulo por la duda que estás resolviendo y comparte pantalla. El recuadro punteado es solo una guía.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 con el prompt visible arriba, para que la gente lo copie mientras el docente lo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Avance de Mi proceso. La tarjeta resaltada en amarillo claro es donde debería ir la mayoría hoy. Muévela según el calendario del 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Errores frecuentes. Entre tres y cuatro, del apartado «Lo que el docente debe vigilar» del temario. Cada error va con qué hacer en cambio.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Tres cosas que la persona trae al encuentro 2 y la fecha en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diapositiva de la plantilla. Se borra antes de presentar. Nombre del archivo: SH_[PERFIL]_T[N]_C_[AAAAMMDD]. El pie de página se edita una sola vez por archivo en Vista &gt; Patrón de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Treinta y tres íconos del sistema Campus Pivot en tres variantes: círculo negro con trazo amarillo, trazo negro suelto y círculo amarillo con trazo negro. Son imágenes PNG de 512 px. El sprite SVG original vive en el design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Consultorio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Título de la diapositiva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Consultorio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Consultorio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BRE_OSCURO">
    <p:bg>
      <p:bgPr>
        <a:solidFill>
          <a:srgbClr val="0D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 Humanos · [PERFIL] · Taller [N] · Consultorio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image" Target="../media/image-12-37.png"/><Relationship Id="rId38" Type="http://schemas.openxmlformats.org/officeDocument/2006/relationships/image" Target="../media/image-12-38.png"/><Relationship Id="rId39" Type="http://schemas.openxmlformats.org/officeDocument/2006/relationships/image" Target="../media/image-12-39.png"/><Relationship Id="rId40" Type="http://schemas.openxmlformats.org/officeDocument/2006/relationships/image" Target="../media/image-12-40.png"/><Relationship Id="rId41" Type="http://schemas.openxmlformats.org/officeDocument/2006/relationships/image" Target="../media/image-12-41.png"/><Relationship Id="rId42" Type="http://schemas.openxmlformats.org/officeDocument/2006/relationships/image" Target="../media/image-12-42.png"/><Relationship Id="rId43" Type="http://schemas.openxmlformats.org/officeDocument/2006/relationships/image" Target="../media/image-12-43.png"/><Relationship Id="rId44" Type="http://schemas.openxmlformats.org/officeDocument/2006/relationships/image" Target="../media/image-12-44.png"/><Relationship Id="rId45" Type="http://schemas.openxmlformats.org/officeDocument/2006/relationships/image" Target="../media/image-12-45.png"/><Relationship Id="rId46" Type="http://schemas.openxmlformats.org/officeDocument/2006/relationships/image" Target="../media/image-12-46.png"/><Relationship Id="rId47" Type="http://schemas.openxmlformats.org/officeDocument/2006/relationships/image" Target="../media/image-12-47.png"/><Relationship Id="rId48" Type="http://schemas.openxmlformats.org/officeDocument/2006/relationships/image" Target="../media/image-12-48.png"/><Relationship Id="rId49" Type="http://schemas.openxmlformats.org/officeDocument/2006/relationships/image" Target="../media/image-12-49.png"/><Relationship Id="rId50" Type="http://schemas.openxmlformats.org/officeDocument/2006/relationships/image" Target="../media/image-12-50.png"/><Relationship Id="rId51" Type="http://schemas.openxmlformats.org/officeDocument/2006/relationships/image" Target="../media/image-12-51.png"/><Relationship Id="rId52" Type="http://schemas.openxmlformats.org/officeDocument/2006/relationships/image" Target="../media/image-12-52.png"/><Relationship Id="rId53" Type="http://schemas.openxmlformats.org/officeDocument/2006/relationships/image" Target="../media/image-12-53.png"/><Relationship Id="rId54" Type="http://schemas.openxmlformats.org/officeDocument/2006/relationships/image" Target="../media/image-12-54.png"/><Relationship Id="rId55" Type="http://schemas.openxmlformats.org/officeDocument/2006/relationships/image" Target="../media/image-12-55.png"/><Relationship Id="rId56" Type="http://schemas.openxmlformats.org/officeDocument/2006/relationships/image" Target="../media/image-12-56.png"/><Relationship Id="rId57" Type="http://schemas.openxmlformats.org/officeDocument/2006/relationships/image" Target="../media/image-12-57.png"/><Relationship Id="rId58" Type="http://schemas.openxmlformats.org/officeDocument/2006/relationships/image" Target="../media/image-12-58.png"/><Relationship Id="rId59" Type="http://schemas.openxmlformats.org/officeDocument/2006/relationships/image" Target="../media/image-12-59.png"/><Relationship Id="rId60" Type="http://schemas.openxmlformats.org/officeDocument/2006/relationships/image" Target="../media/image-12-60.png"/><Relationship Id="rId61" Type="http://schemas.openxmlformats.org/officeDocument/2006/relationships/image" Target="../media/image-12-61.png"/><Relationship Id="rId62" Type="http://schemas.openxmlformats.org/officeDocument/2006/relationships/image" Target="../media/image-12-62.png"/><Relationship Id="rId63" Type="http://schemas.openxmlformats.org/officeDocument/2006/relationships/image" Target="../media/image-12-63.png"/><Relationship Id="rId64" Type="http://schemas.openxmlformats.org/officeDocument/2006/relationships/image" Target="../media/image-12-64.png"/><Relationship Id="rId65" Type="http://schemas.openxmlformats.org/officeDocument/2006/relationships/image" Target="../media/image-12-65.png"/><Relationship Id="rId66" Type="http://schemas.openxmlformats.org/officeDocument/2006/relationships/image" Target="../media/image-12-66.png"/><Relationship Id="rId67" Type="http://schemas.openxmlformats.org/officeDocument/2006/relationships/image" Target="../media/image-12-67.png"/><Relationship Id="rId68" Type="http://schemas.openxmlformats.org/officeDocument/2006/relationships/image" Target="../media/image-12-68.png"/><Relationship Id="rId69" Type="http://schemas.openxmlformats.org/officeDocument/2006/relationships/image" Target="../media/image-12-69.png"/><Relationship Id="rId70" Type="http://schemas.openxmlformats.org/officeDocument/2006/relationships/image" Target="../media/image-12-70.png"/><Relationship Id="rId71" Type="http://schemas.openxmlformats.org/officeDocument/2006/relationships/image" Target="../media/image-12-71.png"/><Relationship Id="rId72" Type="http://schemas.openxmlformats.org/officeDocument/2006/relationships/image" Target="../media/image-12-72.png"/><Relationship Id="rId73" Type="http://schemas.openxmlformats.org/officeDocument/2006/relationships/image" Target="../media/image-12-73.png"/><Relationship Id="rId74" Type="http://schemas.openxmlformats.org/officeDocument/2006/relationships/image" Target="../media/image-12-74.png"/><Relationship Id="rId75" Type="http://schemas.openxmlformats.org/officeDocument/2006/relationships/image" Target="../media/image-12-75.png"/><Relationship Id="rId76" Type="http://schemas.openxmlformats.org/officeDocument/2006/relationships/image" Target="../media/image-12-76.png"/><Relationship Id="rId77" Type="http://schemas.openxmlformats.org/officeDocument/2006/relationships/image" Target="../media/image-12-77.png"/><Relationship Id="rId78" Type="http://schemas.openxmlformats.org/officeDocument/2006/relationships/image" Target="../media/image-12-78.png"/><Relationship Id="rId79" Type="http://schemas.openxmlformats.org/officeDocument/2006/relationships/image" Target="../media/image-12-79.png"/><Relationship Id="rId80" Type="http://schemas.openxmlformats.org/officeDocument/2006/relationships/image" Target="../media/image-12-80.png"/><Relationship Id="rId81" Type="http://schemas.openxmlformats.org/officeDocument/2006/relationships/image" Target="../media/image-12-81.png"/><Relationship Id="rId82" Type="http://schemas.openxmlformats.org/officeDocument/2006/relationships/image" Target="../media/image-12-82.png"/><Relationship Id="rId83" Type="http://schemas.openxmlformats.org/officeDocument/2006/relationships/image" Target="../media/image-12-83.png"/><Relationship Id="rId84" Type="http://schemas.openxmlformats.org/officeDocument/2006/relationships/image" Target="../media/image-12-84.png"/><Relationship Id="rId85" Type="http://schemas.openxmlformats.org/officeDocument/2006/relationships/image" Target="../media/image-12-85.png"/><Relationship Id="rId86" Type="http://schemas.openxmlformats.org/officeDocument/2006/relationships/image" Target="../media/image-12-86.png"/><Relationship Id="rId87" Type="http://schemas.openxmlformats.org/officeDocument/2006/relationships/image" Target="../media/image-12-87.png"/><Relationship Id="rId88" Type="http://schemas.openxmlformats.org/officeDocument/2006/relationships/image" Target="../media/image-12-88.png"/><Relationship Id="rId89" Type="http://schemas.openxmlformats.org/officeDocument/2006/relationships/image" Target="../media/image-12-89.png"/><Relationship Id="rId90" Type="http://schemas.openxmlformats.org/officeDocument/2006/relationships/image" Target="../media/image-12-90.png"/><Relationship Id="rId91" Type="http://schemas.openxmlformats.org/officeDocument/2006/relationships/image" Target="../media/image-12-91.png"/><Relationship Id="rId92" Type="http://schemas.openxmlformats.org/officeDocument/2006/relationships/image" Target="../media/image-12-92.png"/><Relationship Id="rId93" Type="http://schemas.openxmlformats.org/officeDocument/2006/relationships/image" Target="../media/image-12-93.png"/><Relationship Id="rId94" Type="http://schemas.openxmlformats.org/officeDocument/2006/relationships/image" Target="../media/image-12-94.png"/><Relationship Id="rId95" Type="http://schemas.openxmlformats.org/officeDocument/2006/relationships/image" Target="../media/image-12-95.png"/><Relationship Id="rId96" Type="http://schemas.openxmlformats.org/officeDocument/2006/relationships/image" Target="../media/image-12-96.png"/><Relationship Id="rId97" Type="http://schemas.openxmlformats.org/officeDocument/2006/relationships/image" Target="../media/image-12-97.png"/><Relationship Id="rId98" Type="http://schemas.openxmlformats.org/officeDocument/2006/relationships/image" Target="../media/image-12-98.png"/><Relationship Id="rId99" Type="http://schemas.openxmlformats.org/officeDocument/2006/relationships/image" Target="../media/image-12-99.png"/><Relationship Id="rId100" Type="http://schemas.openxmlformats.org/officeDocument/2006/relationships/slideLayout" Target="../slideLayouts/slideLayout4.xml"/><Relationship Id="rId10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98525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SUPER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547165" y="550469"/>
            <a:ext cx="1474013" cy="380390"/>
          </a:xfrm>
          <a:prstGeom prst="rect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602029" y="502920"/>
            <a:ext cx="1474013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HUMANOS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8653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8288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[PERFIL] · TALLER [N] DE 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6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[NOMBRE DEL TALLER]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[CONCEPTO DEL MES]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66928" y="4535424"/>
            <a:ext cx="201168" cy="301752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434840"/>
            <a:ext cx="4754880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434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i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CONSULTORIO · HORA ABIERTA DE DUDAS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60 minutos · 4:00 a 5:00 p. m.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[FECHA]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[HORA]</a:t>
            </a:r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 ·  Teams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Docente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[DOCENTE]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5669280"/>
            <a:ext cx="632460" cy="38404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9924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6844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5444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4168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92768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51492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80092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8816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67416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1026140" y="5669280"/>
            <a:ext cx="632460" cy="384048"/>
          </a:xfrm>
          <a:prstGeom prst="chevron">
            <a:avLst/>
          </a:prstGeom>
          <a:solidFill>
            <a:srgbClr val="3D3D38"/>
          </a:solidFill>
          <a:ln w="12700">
            <a:solidFill>
              <a:srgbClr val="3D3D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254740" y="5669280"/>
            <a:ext cx="220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610819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3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Recorrido · marca en amarillo el taller actual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QUÉ SIRVE ESTA HORA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ENTRE EL ENCUENTRO 1 Y EL ENCUENTRO 2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6479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RESOLVER TU DUDA CON TU CASO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7568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Traes la tarea que elegiste para «Mi proceso» o el reto de la semana, y la trabajamos en pantalla.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95351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APRENDER DE LA DUDA DE OTROS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326440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 mayoría de las dudas se repiten. Lo que se resuelve para una persona sirve para su equipo.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414223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LLEGAR LISTO AL ENCUENTRO 2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445312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D3D38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Sales con tu formato «Mi proceso» más avanzado y con el prompt ajustado a tu tarea.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595360" y="1783080"/>
            <a:ext cx="3044952" cy="3429000"/>
          </a:xfrm>
          <a:prstGeom prst="roundRect">
            <a:avLst>
              <a:gd name="adj" fmla="val 3303"/>
            </a:avLst>
          </a:prstGeom>
          <a:solidFill>
            <a:srgbClr val="0D0D0C"/>
          </a:solidFill>
          <a:ln w="15875">
            <a:solidFill>
              <a:srgbClr val="0D0D0C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595360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SIN</a:t>
            </a:r>
            <a:endParaRPr lang="en-US" sz="4000" dirty="0"/>
          </a:p>
        </p:txBody>
      </p:sp>
      <p:sp>
        <p:nvSpPr>
          <p:cNvPr id="16" name="Text 11"/>
          <p:cNvSpPr txBox="1"/>
          <p:nvPr/>
        </p:nvSpPr>
        <p:spPr>
          <a:xfrm>
            <a:off x="8778240" y="2697480"/>
            <a:ext cx="2697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asistencia obligatoria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puntos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grabación de tu cámara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preguntas tontas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CÓMO VA LA HORA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CONSULTORIO] · 4:00 A 5:00 P. M. · TEAMS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32456" cy="5029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830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0–5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591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Apertura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Tres preguntas para arrancar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5960" y="1783080"/>
            <a:ext cx="2732456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4560" y="17830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5–45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35960" y="23591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Dudas y resolución en vivo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Una por una, con la herramienta en pantalla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3280" y="1783080"/>
            <a:ext cx="2732456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1880" y="17830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45–55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23280" y="23591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Avance de «Mi proceso»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Dónde debería ir cada persona hoy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0599" y="1783080"/>
            <a:ext cx="2732456" cy="50292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39199" y="1783080"/>
            <a:ext cx="232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55–60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910599" y="2359152"/>
            <a:ext cx="2732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Cierre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traer al encuentro 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94106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840480"/>
            <a:ext cx="566928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3000" y="3840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ORDEN LO PONEN LAS DUDAS QUE LLEGUEN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nadie trae una duda, el docente abre con un caso del taller y lo resuelve en vivo. Si llegan más dudas de las que caben, las que quedan pendientes pasan al encuentro 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PARA ARRANCAR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TRES PREGUNTAS, POR SI NADIE HABLA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68680" cy="7315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[¿Qué tarea elegiste para «Mi proceso» y en qué paso vas?]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868680" cy="7315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08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[¿Qué le pediste a la herramienta esta semana y qué te devolvió?]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868680" cy="731520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434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[¿Qué parte del reto te tomó más de cinco minutos?]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TABLERO DE DUDAS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 LLENA EN VIVO · EL MODERADOR ANOTA MIENTRAS EL DOCENTE RESUELVE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6675120"/>
                <a:gridCol w="2194560"/>
                <a:gridCol w="1673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#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Duda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Quién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Estado</a:t>
                      </a:r>
                      <a:endParaRPr lang="en-US" sz="14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1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[Duda en una línea]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· área]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Resuelta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2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[Duda en una línea]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· área]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Pendiente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3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[Duda en una línea]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· área]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Va al encuentro 2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4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5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6</a:t>
                      </a: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2578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Resuelta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52578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73552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Pendiente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52578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650992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Va al encuentro 2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RESOLVIENDO · [DUDA EN UNA LÍNEA]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4415" cy="5212080"/>
          </a:xfrm>
          <a:prstGeom prst="roundRect">
            <a:avLst>
              <a:gd name="adj" fmla="val 1930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28346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11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Pantalla compartida con la herramienta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4572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RESOLVIENDO · [DUDA EN UNA LÍNEA]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1094415" cy="1737360"/>
          </a:xfrm>
          <a:prstGeom prst="roundRect">
            <a:avLst>
              <a:gd name="adj" fmla="val 5789"/>
            </a:avLst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069848"/>
            <a:ext cx="1133856" cy="292608"/>
          </a:xfrm>
          <a:prstGeom prst="homePlate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0392" y="1069848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90472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[PROMPT QUE SE ESTÁ PROBANDO]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94415" cy="3246120"/>
          </a:xfrm>
          <a:prstGeom prst="roundRect">
            <a:avLst>
              <a:gd name="adj" fmla="val 3099"/>
            </a:avLst>
          </a:prstGeom>
          <a:solidFill>
            <a:srgbClr val="F7F7F5"/>
          </a:solidFill>
          <a:ln w="15875">
            <a:solidFill>
              <a:srgbClr val="9A9A9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Resultado o pantalla compartida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¿DÓNDE VAS CON «MI PROCESO»?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MINUTO 45 AL 55 · REVISA TU FORMATO MIENTRAS HABLAMOS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15258" cy="384048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 · LA TAREA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Ya elegiste una tarea que se repite y la escribiste con nombre, área y frecuencia.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937760"/>
            <a:ext cx="2966618" cy="384048"/>
          </a:xfrm>
          <a:prstGeom prst="homePlat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0120" y="4937760"/>
            <a:ext cx="2600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HOY DEBERÍAS TENERLA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38218" y="1783080"/>
            <a:ext cx="3515258" cy="3840480"/>
          </a:xfrm>
          <a:prstGeom prst="roundRect">
            <a:avLst>
              <a:gd name="adj" fmla="val 2861"/>
            </a:avLst>
          </a:prstGeom>
          <a:solidFill>
            <a:srgbClr val="FFF9E0"/>
          </a:solidFill>
          <a:ln w="15875">
            <a:solidFill>
              <a:srgbClr val="FCC8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20574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 · CUÁNTO TOMA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Ya la mediste al menos una vez: minutos por vez y veces por semana.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12538" y="4937760"/>
            <a:ext cx="2966618" cy="384048"/>
          </a:xfrm>
          <a:prstGeom prst="homePlat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49698" y="4937760"/>
            <a:ext cx="2600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HOY DEBERÍAS IR EN ESTO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27797" y="1783080"/>
            <a:ext cx="3515258" cy="3840480"/>
          </a:xfrm>
          <a:prstGeom prst="roundRect">
            <a:avLst>
              <a:gd name="adj" fmla="val 2861"/>
            </a:avLst>
          </a:prstGeom>
          <a:solidFill>
            <a:srgbClr val="FFFFFF"/>
          </a:solidFill>
          <a:ln w="15875">
            <a:solidFill>
              <a:srgbClr val="DEDED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20574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2117" y="283464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D0D0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 · LA MEJORA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402117" y="329184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Qué parte podría apoyar la IA y qué resultado esperas. Se termina en el encuentro 2.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8402117" y="4937760"/>
            <a:ext cx="2966618" cy="384048"/>
          </a:xfrm>
          <a:prstGeom prst="homePlate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539277" y="4937760"/>
            <a:ext cx="2600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SE CIERRA EL [FECHA E2]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ERRORES FRECUENTES DE ESTE TALLER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LO QUE EL DOCENTE VIGILA · DEL TEMARIO DETALLADO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96596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[Error 1: qué hace la gente y qué sale mal]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4320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hacer en cambio]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233008" y="17373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93128" y="196596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[Error 2]</a:t>
            </a:r>
            <a:endParaRPr lang="en-US" sz="2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74320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93128" y="274320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hacer en cambio]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48640" y="37947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69080"/>
            <a:ext cx="502920" cy="5029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508760" y="402336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[Error 3]</a:t>
            </a:r>
            <a:endParaRPr lang="en-US" sz="2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800600"/>
            <a:ext cx="502920" cy="50292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508760" y="480060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hacer en cambio]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6233008" y="3794760"/>
            <a:ext cx="5410048" cy="1828800"/>
          </a:xfrm>
          <a:prstGeom prst="roundRect">
            <a:avLst>
              <a:gd name="adj" fmla="val 5500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7328" y="4069080"/>
            <a:ext cx="502920" cy="50292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193128" y="402336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[Error 4]</a:t>
            </a:r>
            <a:endParaRPr lang="en-US" sz="2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4800600"/>
            <a:ext cx="502920" cy="50292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193128" y="4800600"/>
            <a:ext cx="4175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[Qué hacer en cambio]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QUÉ TRAES AL ENCUENTRO 2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7647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TU FORMATO «MI PROCESO»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0756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Con la tarea, la medición y una primera idea de mejora.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7180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9535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EL RETO DE LA SEMANA ENTREGADO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32644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Hasta el miércoles en la plataforma.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41422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LAS DUDAS QUE QUEDARON PENDIENTES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44531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4C4BE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Las del tablero marcadas «Va al encuentro 2».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675120" y="1783080"/>
            <a:ext cx="4965192" cy="3566160"/>
          </a:xfrm>
          <a:prstGeom prst="roundRect">
            <a:avLst>
              <a:gd name="adj" fmla="val 2821"/>
            </a:avLst>
          </a:prstGeom>
          <a:solidFill>
            <a:srgbClr val="161614"/>
          </a:solidFill>
          <a:ln w="15875">
            <a:solidFill>
              <a:srgbClr val="3D3D3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10312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95160" y="2971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CC8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[FECHA E2]</a:t>
            </a:r>
            <a:endParaRPr lang="en-US" sz="4000" dirty="0"/>
          </a:p>
        </p:txBody>
      </p:sp>
      <p:sp>
        <p:nvSpPr>
          <p:cNvPr id="15" name="Text 9"/>
          <p:cNvSpPr txBox="1"/>
          <p:nvPr/>
        </p:nvSpPr>
        <p:spPr>
          <a:xfrm>
            <a:off x="699516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[HORA] · Teams</a:t>
            </a:r>
            <a:endParaRPr lang="en-US" sz="2400" dirty="0"/>
          </a:p>
        </p:txBody>
      </p:sp>
      <p:sp>
        <p:nvSpPr>
          <p:cNvPr id="16" name="Text 10"/>
          <p:cNvSpPr txBox="1"/>
          <p:nvPr/>
        </p:nvSpPr>
        <p:spPr>
          <a:xfrm>
            <a:off x="699516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7F7F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Encuentro 2 · aplicación a tu tarea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GUÍA DE USO DE ESTA PLANTILLA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NOMBRE DEL ARCHIVO · SH_[PERFIL]_T[N]_C_[AAAAMMDD]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8404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Marcador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CC800"/>
                          </a:solidFill>
                          <a:latin typeface="Barlow Condensed" pitchFamily="34" charset="0"/>
                          <a:ea typeface="Barlow Condensed" pitchFamily="34" charset="-122"/>
                          <a:cs typeface="Barlow Condensed" pitchFamily="34" charset="-120"/>
                        </a:rPr>
                        <a:t>Qué va ahí</a:t>
                      </a:r>
                      <a:endParaRPr lang="en-US" sz="1300" dirty="0">
                        <a:latin typeface="Barlow Condensed" charset="0"/>
                        <a:ea typeface="Barlow Condensed" charset="0"/>
                        <a:cs typeface="Barlow Condensed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[PERFIL]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COM o ADM en el nombre del archivo; Comercial o Administrativo en el texto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Número del taller, 1 a 6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[NOMBRE DEL TALLER]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temario detallado, tal como está escrito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[CONCEPTO DEL MES]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El concepto de IA del mes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[FECHA CONSULTORIO] [FECHA E2]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Con día de la semana: «miércoles 14 de octubre»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[DUDA EN UNA LÍNEA]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Se cambia en vivo en las pantallas de resolución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[DOCENTE]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Nombre completo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[Error 1…4]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0D0C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Del apartado «Lo que el docente debe vigilar» del temario</a:t>
                      </a:r>
                      <a:endParaRPr lang="en-US" sz="12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47688" y="1700784"/>
            <a:ext cx="201168" cy="256032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00200"/>
            <a:ext cx="4663440" cy="457200"/>
          </a:xfrm>
          <a:prstGeom prst="chevron">
            <a:avLst/>
          </a:prstGeom>
          <a:solidFill>
            <a:srgbClr val="0D0D0C"/>
          </a:solidFill>
          <a:ln w="12700">
            <a:solidFill>
              <a:srgbClr val="0D0D0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REGLAS QUE NO CAMBIAN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2860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Titulares en Barlow Condensed y en mayúsculas. Cuerpo en Atkinson Hyperlegible Next, en tipo oración.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Negro #0D0D0C y amarillo #FCC800. Sobre amarillo el texto va en negro. El amarillo como texto solo va sobre negro. Sobre blanco, el acento de texto es #8A6B00.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El consultorio se vive en pantalla compartida: la presentación acompaña, la herramienta protagoniza.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 logos de las empresas: la pieza sirve igual en las cinco compañías.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Pie de página: edítalo una sola vez en Vista &gt; Patrón de diapositivas.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 falta una fuente, PowerPoint usa Arial Narrow y Arial. Instala las dos fuentes antes de presentar.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0D0D0C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Esta diapositiva y la biblioteca de íconos se borran antes de presentar.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BIBLIOTECA DE ÍCONOS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71016"/>
            <a:ext cx="146304" cy="182880"/>
          </a:xfrm>
          <a:prstGeom prst="chevron">
            <a:avLst/>
          </a:prstGeom>
          <a:solidFill>
            <a:srgbClr val="FCC800"/>
          </a:solidFill>
          <a:ln w="12700">
            <a:solidFill>
              <a:srgbClr val="FCC8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6B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COPIA Y PEGA EL ÍCONO EN LA DIAPOSITIVA QUE LO NECESITE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68" y="1691640"/>
            <a:ext cx="566928" cy="56692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88" y="2304288"/>
            <a:ext cx="256032" cy="25603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52" y="2304288"/>
            <a:ext cx="256032" cy="25603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chevron-right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51" y="1691640"/>
            <a:ext cx="566928" cy="56692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3771" y="2304288"/>
            <a:ext cx="256032" cy="256032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7235" y="2304288"/>
            <a:ext cx="256032" cy="256032"/>
          </a:xfrm>
          <a:prstGeom prst="rect">
            <a:avLst/>
          </a:prstGeom>
        </p:spPr>
      </p:pic>
      <p:sp>
        <p:nvSpPr>
          <p:cNvPr id="12" name="Text 4"/>
          <p:cNvSpPr txBox="1"/>
          <p:nvPr/>
        </p:nvSpPr>
        <p:spPr>
          <a:xfrm>
            <a:off x="155722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chevron-left</a:t>
            </a:r>
            <a:endParaRPr lang="en-US" sz="90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634" y="1691640"/>
            <a:ext cx="566928" cy="566928"/>
          </a:xfrm>
          <a:prstGeom prst="rect">
            <a:avLst/>
          </a:prstGeom>
        </p:spPr>
      </p:pic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2354" y="2304288"/>
            <a:ext cx="256032" cy="256032"/>
          </a:xfrm>
          <a:prstGeom prst="rect">
            <a:avLst/>
          </a:prstGeom>
        </p:spPr>
      </p:pic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5818" y="2304288"/>
            <a:ext cx="256032" cy="256032"/>
          </a:xfrm>
          <a:prstGeom prst="rect">
            <a:avLst/>
          </a:prstGeom>
        </p:spPr>
      </p:pic>
      <p:sp>
        <p:nvSpPr>
          <p:cNvPr id="16" name="Text 5"/>
          <p:cNvSpPr txBox="1"/>
          <p:nvPr/>
        </p:nvSpPr>
        <p:spPr>
          <a:xfrm>
            <a:off x="25658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chevrons-up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5217" y="1691640"/>
            <a:ext cx="566928" cy="566928"/>
          </a:xfrm>
          <a:prstGeom prst="rect">
            <a:avLst/>
          </a:prstGeom>
        </p:spPr>
      </p:pic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937" y="2304288"/>
            <a:ext cx="256032" cy="256032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4401" y="2304288"/>
            <a:ext cx="256032" cy="256032"/>
          </a:xfrm>
          <a:prstGeom prst="rect">
            <a:avLst/>
          </a:prstGeom>
        </p:spPr>
      </p:pic>
      <p:sp>
        <p:nvSpPr>
          <p:cNvPr id="20" name="Text 6"/>
          <p:cNvSpPr txBox="1"/>
          <p:nvPr/>
        </p:nvSpPr>
        <p:spPr>
          <a:xfrm>
            <a:off x="3574390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play</a:t>
            </a:r>
            <a:endParaRPr lang="en-US" sz="900" dirty="0"/>
          </a:p>
        </p:txBody>
      </p:sp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03800" y="1691640"/>
            <a:ext cx="566928" cy="566928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9520" y="2304288"/>
            <a:ext cx="256032" cy="25603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2984" y="2304288"/>
            <a:ext cx="256032" cy="256032"/>
          </a:xfrm>
          <a:prstGeom prst="rect">
            <a:avLst/>
          </a:prstGeom>
        </p:spPr>
      </p:pic>
      <p:sp>
        <p:nvSpPr>
          <p:cNvPr id="24" name="Text 7"/>
          <p:cNvSpPr txBox="1"/>
          <p:nvPr/>
        </p:nvSpPr>
        <p:spPr>
          <a:xfrm>
            <a:off x="4582973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live</a:t>
            </a:r>
            <a:endParaRPr lang="en-US" sz="900" dirty="0"/>
          </a:p>
        </p:txBody>
      </p:sp>
      <p:pic>
        <p:nvPicPr>
          <p:cNvPr id="2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12384" y="1691640"/>
            <a:ext cx="566928" cy="566928"/>
          </a:xfrm>
          <a:prstGeom prst="rect">
            <a:avLst/>
          </a:prstGeom>
        </p:spPr>
      </p:pic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58104" y="2304288"/>
            <a:ext cx="256032" cy="256032"/>
          </a:xfrm>
          <a:prstGeom prst="rect">
            <a:avLst/>
          </a:prstGeom>
        </p:spPr>
      </p:pic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41568" y="2304288"/>
            <a:ext cx="256032" cy="256032"/>
          </a:xfrm>
          <a:prstGeom prst="rect">
            <a:avLst/>
          </a:prstGeom>
        </p:spPr>
      </p:pic>
      <p:sp>
        <p:nvSpPr>
          <p:cNvPr id="28" name="Text 8"/>
          <p:cNvSpPr txBox="1"/>
          <p:nvPr/>
        </p:nvSpPr>
        <p:spPr>
          <a:xfrm>
            <a:off x="559155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camera</a:t>
            </a:r>
            <a:endParaRPr lang="en-US" sz="900" dirty="0"/>
          </a:p>
        </p:txBody>
      </p:sp>
      <p:pic>
        <p:nvPicPr>
          <p:cNvPr id="2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0967" y="1691640"/>
            <a:ext cx="566928" cy="566928"/>
          </a:xfrm>
          <a:prstGeom prst="rect">
            <a:avLst/>
          </a:prstGeom>
        </p:spPr>
      </p:pic>
      <p:pic>
        <p:nvPicPr>
          <p:cNvPr id="3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66687" y="2304288"/>
            <a:ext cx="256032" cy="256032"/>
          </a:xfrm>
          <a:prstGeom prst="rect">
            <a:avLst/>
          </a:prstGeom>
        </p:spPr>
      </p:pic>
      <p:pic>
        <p:nvPicPr>
          <p:cNvPr id="3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50151" y="2304288"/>
            <a:ext cx="256032" cy="256032"/>
          </a:xfrm>
          <a:prstGeom prst="rect">
            <a:avLst/>
          </a:prstGeom>
        </p:spPr>
      </p:pic>
      <p:sp>
        <p:nvSpPr>
          <p:cNvPr id="32" name="Text 9"/>
          <p:cNvSpPr txBox="1"/>
          <p:nvPr/>
        </p:nvSpPr>
        <p:spPr>
          <a:xfrm>
            <a:off x="660013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upload</a:t>
            </a:r>
            <a:endParaRPr lang="en-US" sz="900" dirty="0"/>
          </a:p>
        </p:txBody>
      </p:sp>
      <p:pic>
        <p:nvPicPr>
          <p:cNvPr id="3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9550" y="1691640"/>
            <a:ext cx="566928" cy="566928"/>
          </a:xfrm>
          <a:prstGeom prst="rect">
            <a:avLst/>
          </a:prstGeom>
        </p:spPr>
      </p:pic>
      <p:pic>
        <p:nvPicPr>
          <p:cNvPr id="3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75270" y="2304288"/>
            <a:ext cx="256032" cy="256032"/>
          </a:xfrm>
          <a:prstGeom prst="rect">
            <a:avLst/>
          </a:prstGeom>
        </p:spPr>
      </p:pic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8734" y="2304288"/>
            <a:ext cx="256032" cy="256032"/>
          </a:xfrm>
          <a:prstGeom prst="rect">
            <a:avLst/>
          </a:prstGeom>
        </p:spPr>
      </p:pic>
      <p:sp>
        <p:nvSpPr>
          <p:cNvPr id="36" name="Text 10"/>
          <p:cNvSpPr txBox="1"/>
          <p:nvPr/>
        </p:nvSpPr>
        <p:spPr>
          <a:xfrm>
            <a:off x="760872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</a:t>
            </a:r>
            <a:endParaRPr lang="en-US" sz="900" dirty="0"/>
          </a:p>
        </p:txBody>
      </p:sp>
      <p:pic>
        <p:nvPicPr>
          <p:cNvPr id="37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38133" y="1691640"/>
            <a:ext cx="566928" cy="566928"/>
          </a:xfrm>
          <a:prstGeom prst="rect">
            <a:avLst/>
          </a:prstGeom>
        </p:spPr>
      </p:pic>
      <p:pic>
        <p:nvPicPr>
          <p:cNvPr id="38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83853" y="2304288"/>
            <a:ext cx="256032" cy="256032"/>
          </a:xfrm>
          <a:prstGeom prst="rect">
            <a:avLst/>
          </a:prstGeom>
        </p:spPr>
      </p:pic>
      <p:pic>
        <p:nvPicPr>
          <p:cNvPr id="3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7317" y="2304288"/>
            <a:ext cx="256032" cy="256032"/>
          </a:xfrm>
          <a:prstGeom prst="rect">
            <a:avLst/>
          </a:prstGeom>
        </p:spPr>
      </p:pic>
      <p:sp>
        <p:nvSpPr>
          <p:cNvPr id="40" name="Text 11"/>
          <p:cNvSpPr txBox="1"/>
          <p:nvPr/>
        </p:nvSpPr>
        <p:spPr>
          <a:xfrm>
            <a:off x="8617306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clock</a:t>
            </a:r>
            <a:endParaRPr lang="en-US" sz="900" dirty="0"/>
          </a:p>
        </p:txBody>
      </p:sp>
      <p:pic>
        <p:nvPicPr>
          <p:cNvPr id="4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46716" y="1691640"/>
            <a:ext cx="566928" cy="566928"/>
          </a:xfrm>
          <a:prstGeom prst="rect">
            <a:avLst/>
          </a:prstGeom>
        </p:spPr>
      </p:pic>
      <p:pic>
        <p:nvPicPr>
          <p:cNvPr id="4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892436" y="2304288"/>
            <a:ext cx="256032" cy="256032"/>
          </a:xfrm>
          <a:prstGeom prst="rect">
            <a:avLst/>
          </a:prstGeom>
        </p:spPr>
      </p:pic>
      <p:pic>
        <p:nvPicPr>
          <p:cNvPr id="4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175900" y="2304288"/>
            <a:ext cx="256032" cy="256032"/>
          </a:xfrm>
          <a:prstGeom prst="rect">
            <a:avLst/>
          </a:prstGeom>
        </p:spPr>
      </p:pic>
      <p:sp>
        <p:nvSpPr>
          <p:cNvPr id="44" name="Text 12"/>
          <p:cNvSpPr txBox="1"/>
          <p:nvPr/>
        </p:nvSpPr>
        <p:spPr>
          <a:xfrm>
            <a:off x="9625889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calendar</a:t>
            </a:r>
            <a:endParaRPr lang="en-US" sz="900" dirty="0"/>
          </a:p>
        </p:txBody>
      </p:sp>
      <p:pic>
        <p:nvPicPr>
          <p:cNvPr id="4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55300" y="1691640"/>
            <a:ext cx="566928" cy="566928"/>
          </a:xfrm>
          <a:prstGeom prst="rect">
            <a:avLst/>
          </a:prstGeom>
        </p:spPr>
      </p:pic>
      <p:pic>
        <p:nvPicPr>
          <p:cNvPr id="4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901020" y="2304288"/>
            <a:ext cx="256032" cy="256032"/>
          </a:xfrm>
          <a:prstGeom prst="rect">
            <a:avLst/>
          </a:prstGeom>
        </p:spPr>
      </p:pic>
      <p:pic>
        <p:nvPicPr>
          <p:cNvPr id="4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84484" y="2304288"/>
            <a:ext cx="256032" cy="256032"/>
          </a:xfrm>
          <a:prstGeom prst="rect">
            <a:avLst/>
          </a:prstGeom>
        </p:spPr>
      </p:pic>
      <p:sp>
        <p:nvSpPr>
          <p:cNvPr id="48" name="Text 13"/>
          <p:cNvSpPr txBox="1"/>
          <p:nvPr/>
        </p:nvSpPr>
        <p:spPr>
          <a:xfrm>
            <a:off x="10634472" y="260604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star</a:t>
            </a:r>
            <a:endParaRPr lang="en-US" sz="900" dirty="0"/>
          </a:p>
        </p:txBody>
      </p:sp>
      <p:pic>
        <p:nvPicPr>
          <p:cNvPr id="49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9468" y="3108960"/>
            <a:ext cx="566928" cy="566928"/>
          </a:xfrm>
          <a:prstGeom prst="rect">
            <a:avLst/>
          </a:prstGeom>
        </p:spPr>
      </p:pic>
      <p:pic>
        <p:nvPicPr>
          <p:cNvPr id="50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5188" y="3721608"/>
            <a:ext cx="256032" cy="256032"/>
          </a:xfrm>
          <a:prstGeom prst="rect">
            <a:avLst/>
          </a:prstGeom>
        </p:spPr>
      </p:pic>
      <p:pic>
        <p:nvPicPr>
          <p:cNvPr id="51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8652" y="3721608"/>
            <a:ext cx="256032" cy="256032"/>
          </a:xfrm>
          <a:prstGeom prst="rect">
            <a:avLst/>
          </a:prstGeom>
        </p:spPr>
      </p:pic>
      <p:sp>
        <p:nvSpPr>
          <p:cNvPr id="52" name="Text 14"/>
          <p:cNvSpPr txBox="1"/>
          <p:nvPr/>
        </p:nvSpPr>
        <p:spPr>
          <a:xfrm>
            <a:off x="54864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trophy</a:t>
            </a:r>
            <a:endParaRPr lang="en-US" sz="900" dirty="0"/>
          </a:p>
        </p:txBody>
      </p:sp>
      <p:pic>
        <p:nvPicPr>
          <p:cNvPr id="53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78051" y="3108960"/>
            <a:ext cx="566928" cy="566928"/>
          </a:xfrm>
          <a:prstGeom prst="rect">
            <a:avLst/>
          </a:prstGeom>
        </p:spPr>
      </p:pic>
      <p:pic>
        <p:nvPicPr>
          <p:cNvPr id="54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823771" y="3721608"/>
            <a:ext cx="256032" cy="256032"/>
          </a:xfrm>
          <a:prstGeom prst="rect">
            <a:avLst/>
          </a:prstGeom>
        </p:spPr>
      </p:pic>
      <p:pic>
        <p:nvPicPr>
          <p:cNvPr id="55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07235" y="3721608"/>
            <a:ext cx="256032" cy="256032"/>
          </a:xfrm>
          <a:prstGeom prst="rect">
            <a:avLst/>
          </a:prstGeom>
        </p:spPr>
      </p:pic>
      <p:sp>
        <p:nvSpPr>
          <p:cNvPr id="56" name="Text 15"/>
          <p:cNvSpPr txBox="1"/>
          <p:nvPr/>
        </p:nvSpPr>
        <p:spPr>
          <a:xfrm>
            <a:off x="155722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home</a:t>
            </a:r>
            <a:endParaRPr lang="en-US" sz="900" dirty="0"/>
          </a:p>
        </p:txBody>
      </p:sp>
      <p:pic>
        <p:nvPicPr>
          <p:cNvPr id="5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786634" y="3108960"/>
            <a:ext cx="566928" cy="566928"/>
          </a:xfrm>
          <a:prstGeom prst="rect">
            <a:avLst/>
          </a:prstGeom>
        </p:spPr>
      </p:pic>
      <p:pic>
        <p:nvPicPr>
          <p:cNvPr id="58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832354" y="3721608"/>
            <a:ext cx="256032" cy="256032"/>
          </a:xfrm>
          <a:prstGeom prst="rect">
            <a:avLst/>
          </a:prstGeom>
        </p:spPr>
      </p:pic>
      <p:pic>
        <p:nvPicPr>
          <p:cNvPr id="59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115818" y="3721608"/>
            <a:ext cx="256032" cy="256032"/>
          </a:xfrm>
          <a:prstGeom prst="rect">
            <a:avLst/>
          </a:prstGeom>
        </p:spPr>
      </p:pic>
      <p:sp>
        <p:nvSpPr>
          <p:cNvPr id="60" name="Text 16"/>
          <p:cNvSpPr txBox="1"/>
          <p:nvPr/>
        </p:nvSpPr>
        <p:spPr>
          <a:xfrm>
            <a:off x="25658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route</a:t>
            </a:r>
            <a:endParaRPr lang="en-US" sz="900" dirty="0"/>
          </a:p>
        </p:txBody>
      </p:sp>
      <p:pic>
        <p:nvPicPr>
          <p:cNvPr id="61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795217" y="3108960"/>
            <a:ext cx="566928" cy="566928"/>
          </a:xfrm>
          <a:prstGeom prst="rect">
            <a:avLst/>
          </a:prstGeom>
        </p:spPr>
      </p:pic>
      <p:pic>
        <p:nvPicPr>
          <p:cNvPr id="62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840937" y="3721608"/>
            <a:ext cx="256032" cy="256032"/>
          </a:xfrm>
          <a:prstGeom prst="rect">
            <a:avLst/>
          </a:prstGeom>
        </p:spPr>
      </p:pic>
      <p:pic>
        <p:nvPicPr>
          <p:cNvPr id="63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24401" y="3721608"/>
            <a:ext cx="256032" cy="256032"/>
          </a:xfrm>
          <a:prstGeom prst="rect">
            <a:avLst/>
          </a:prstGeom>
        </p:spPr>
      </p:pic>
      <p:sp>
        <p:nvSpPr>
          <p:cNvPr id="64" name="Text 17"/>
          <p:cNvSpPr txBox="1"/>
          <p:nvPr/>
        </p:nvSpPr>
        <p:spPr>
          <a:xfrm>
            <a:off x="3574390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</a:t>
            </a:r>
            <a:endParaRPr lang="en-US" sz="900" dirty="0"/>
          </a:p>
        </p:txBody>
      </p:sp>
      <p:pic>
        <p:nvPicPr>
          <p:cNvPr id="6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803800" y="3108960"/>
            <a:ext cx="566928" cy="566928"/>
          </a:xfrm>
          <a:prstGeom prst="rect">
            <a:avLst/>
          </a:prstGeom>
        </p:spPr>
      </p:pic>
      <p:pic>
        <p:nvPicPr>
          <p:cNvPr id="66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49520" y="3721608"/>
            <a:ext cx="256032" cy="256032"/>
          </a:xfrm>
          <a:prstGeom prst="rect">
            <a:avLst/>
          </a:prstGeom>
        </p:spPr>
      </p:pic>
      <p:pic>
        <p:nvPicPr>
          <p:cNvPr id="67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132984" y="3721608"/>
            <a:ext cx="256032" cy="256032"/>
          </a:xfrm>
          <a:prstGeom prst="rect">
            <a:avLst/>
          </a:prstGeom>
        </p:spPr>
      </p:pic>
      <p:sp>
        <p:nvSpPr>
          <p:cNvPr id="68" name="Text 18"/>
          <p:cNvSpPr txBox="1"/>
          <p:nvPr/>
        </p:nvSpPr>
        <p:spPr>
          <a:xfrm>
            <a:off x="4582973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users</a:t>
            </a:r>
            <a:endParaRPr lang="en-US" sz="900" dirty="0"/>
          </a:p>
        </p:txBody>
      </p:sp>
      <p:pic>
        <p:nvPicPr>
          <p:cNvPr id="69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812384" y="3108960"/>
            <a:ext cx="566928" cy="566928"/>
          </a:xfrm>
          <a:prstGeom prst="rect">
            <a:avLst/>
          </a:prstGeom>
        </p:spPr>
      </p:pic>
      <p:pic>
        <p:nvPicPr>
          <p:cNvPr id="7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858104" y="3721608"/>
            <a:ext cx="256032" cy="256032"/>
          </a:xfrm>
          <a:prstGeom prst="rect">
            <a:avLst/>
          </a:prstGeom>
        </p:spPr>
      </p:pic>
      <p:pic>
        <p:nvPicPr>
          <p:cNvPr id="71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141568" y="3721608"/>
            <a:ext cx="256032" cy="256032"/>
          </a:xfrm>
          <a:prstGeom prst="rect">
            <a:avLst/>
          </a:prstGeom>
        </p:spPr>
      </p:pic>
      <p:sp>
        <p:nvSpPr>
          <p:cNvPr id="72" name="Text 19"/>
          <p:cNvSpPr txBox="1"/>
          <p:nvPr/>
        </p:nvSpPr>
        <p:spPr>
          <a:xfrm>
            <a:off x="559155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alert</a:t>
            </a:r>
            <a:endParaRPr lang="en-US" sz="900" dirty="0"/>
          </a:p>
        </p:txBody>
      </p:sp>
      <p:pic>
        <p:nvPicPr>
          <p:cNvPr id="73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20967" y="3108960"/>
            <a:ext cx="566928" cy="566928"/>
          </a:xfrm>
          <a:prstGeom prst="rect">
            <a:avLst/>
          </a:prstGeom>
        </p:spPr>
      </p:pic>
      <p:pic>
        <p:nvPicPr>
          <p:cNvPr id="74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66687" y="3721608"/>
            <a:ext cx="256032" cy="256032"/>
          </a:xfrm>
          <a:prstGeom prst="rect">
            <a:avLst/>
          </a:prstGeom>
        </p:spPr>
      </p:pic>
      <p:pic>
        <p:nvPicPr>
          <p:cNvPr id="75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150151" y="3721608"/>
            <a:ext cx="256032" cy="256032"/>
          </a:xfrm>
          <a:prstGeom prst="rect">
            <a:avLst/>
          </a:prstGeom>
        </p:spPr>
      </p:pic>
      <p:sp>
        <p:nvSpPr>
          <p:cNvPr id="76" name="Text 20"/>
          <p:cNvSpPr txBox="1"/>
          <p:nvPr/>
        </p:nvSpPr>
        <p:spPr>
          <a:xfrm>
            <a:off x="660013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info</a:t>
            </a:r>
            <a:endParaRPr lang="en-US" sz="900" dirty="0"/>
          </a:p>
        </p:txBody>
      </p:sp>
      <p:pic>
        <p:nvPicPr>
          <p:cNvPr id="77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829550" y="3108960"/>
            <a:ext cx="566928" cy="566928"/>
          </a:xfrm>
          <a:prstGeom prst="rect">
            <a:avLst/>
          </a:prstGeom>
        </p:spPr>
      </p:pic>
      <p:pic>
        <p:nvPicPr>
          <p:cNvPr id="78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875270" y="3721608"/>
            <a:ext cx="256032" cy="256032"/>
          </a:xfrm>
          <a:prstGeom prst="rect">
            <a:avLst/>
          </a:prstGeom>
        </p:spPr>
      </p:pic>
      <p:pic>
        <p:nvPicPr>
          <p:cNvPr id="79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158734" y="3721608"/>
            <a:ext cx="256032" cy="256032"/>
          </a:xfrm>
          <a:prstGeom prst="rect">
            <a:avLst/>
          </a:prstGeom>
        </p:spPr>
      </p:pic>
      <p:sp>
        <p:nvSpPr>
          <p:cNvPr id="80" name="Text 21"/>
          <p:cNvSpPr txBox="1"/>
          <p:nvPr/>
        </p:nvSpPr>
        <p:spPr>
          <a:xfrm>
            <a:off x="760872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wifi-off</a:t>
            </a:r>
            <a:endParaRPr lang="en-US" sz="900" dirty="0"/>
          </a:p>
        </p:txBody>
      </p:sp>
      <p:pic>
        <p:nvPicPr>
          <p:cNvPr id="81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838133" y="3108960"/>
            <a:ext cx="566928" cy="566928"/>
          </a:xfrm>
          <a:prstGeom prst="rect">
            <a:avLst/>
          </a:prstGeom>
        </p:spPr>
      </p:pic>
      <p:pic>
        <p:nvPicPr>
          <p:cNvPr id="82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883853" y="3721608"/>
            <a:ext cx="256032" cy="256032"/>
          </a:xfrm>
          <a:prstGeom prst="rect">
            <a:avLst/>
          </a:prstGeom>
        </p:spPr>
      </p:pic>
      <p:pic>
        <p:nvPicPr>
          <p:cNvPr id="83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167317" y="3721608"/>
            <a:ext cx="256032" cy="256032"/>
          </a:xfrm>
          <a:prstGeom prst="rect">
            <a:avLst/>
          </a:prstGeom>
        </p:spPr>
      </p:pic>
      <p:sp>
        <p:nvSpPr>
          <p:cNvPr id="84" name="Text 22"/>
          <p:cNvSpPr txBox="1"/>
          <p:nvPr/>
        </p:nvSpPr>
        <p:spPr>
          <a:xfrm>
            <a:off x="8617306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close</a:t>
            </a:r>
            <a:endParaRPr lang="en-US" sz="900" dirty="0"/>
          </a:p>
        </p:txBody>
      </p:sp>
      <p:pic>
        <p:nvPicPr>
          <p:cNvPr id="85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846716" y="3108960"/>
            <a:ext cx="566928" cy="566928"/>
          </a:xfrm>
          <a:prstGeom prst="rect">
            <a:avLst/>
          </a:prstGeom>
        </p:spPr>
      </p:pic>
      <p:pic>
        <p:nvPicPr>
          <p:cNvPr id="86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892436" y="3721608"/>
            <a:ext cx="256032" cy="256032"/>
          </a:xfrm>
          <a:prstGeom prst="rect">
            <a:avLst/>
          </a:prstGeom>
        </p:spPr>
      </p:pic>
      <p:pic>
        <p:nvPicPr>
          <p:cNvPr id="87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175900" y="3721608"/>
            <a:ext cx="256032" cy="256032"/>
          </a:xfrm>
          <a:prstGeom prst="rect">
            <a:avLst/>
          </a:prstGeom>
        </p:spPr>
      </p:pic>
      <p:sp>
        <p:nvSpPr>
          <p:cNvPr id="88" name="Text 23"/>
          <p:cNvSpPr txBox="1"/>
          <p:nvPr/>
        </p:nvSpPr>
        <p:spPr>
          <a:xfrm>
            <a:off x="9625889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bulb</a:t>
            </a:r>
            <a:endParaRPr lang="en-US" sz="900" dirty="0"/>
          </a:p>
        </p:txBody>
      </p:sp>
      <p:pic>
        <p:nvPicPr>
          <p:cNvPr id="89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855300" y="3108960"/>
            <a:ext cx="566928" cy="566928"/>
          </a:xfrm>
          <a:prstGeom prst="rect">
            <a:avLst/>
          </a:prstGeom>
        </p:spPr>
      </p:pic>
      <p:pic>
        <p:nvPicPr>
          <p:cNvPr id="90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901020" y="3721608"/>
            <a:ext cx="256032" cy="256032"/>
          </a:xfrm>
          <a:prstGeom prst="rect">
            <a:avLst/>
          </a:prstGeom>
        </p:spPr>
      </p:pic>
      <p:pic>
        <p:nvPicPr>
          <p:cNvPr id="91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184484" y="3721608"/>
            <a:ext cx="256032" cy="256032"/>
          </a:xfrm>
          <a:prstGeom prst="rect">
            <a:avLst/>
          </a:prstGeom>
        </p:spPr>
      </p:pic>
      <p:sp>
        <p:nvSpPr>
          <p:cNvPr id="92" name="Text 24"/>
          <p:cNvSpPr txBox="1"/>
          <p:nvPr/>
        </p:nvSpPr>
        <p:spPr>
          <a:xfrm>
            <a:off x="10634472" y="402336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rocket</a:t>
            </a:r>
            <a:endParaRPr lang="en-US" sz="900" dirty="0"/>
          </a:p>
        </p:txBody>
      </p:sp>
      <p:pic>
        <p:nvPicPr>
          <p:cNvPr id="93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69468" y="4526280"/>
            <a:ext cx="566928" cy="566928"/>
          </a:xfrm>
          <a:prstGeom prst="rect">
            <a:avLst/>
          </a:prstGeom>
        </p:spPr>
      </p:pic>
      <p:pic>
        <p:nvPicPr>
          <p:cNvPr id="94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188" y="5138928"/>
            <a:ext cx="256032" cy="256032"/>
          </a:xfrm>
          <a:prstGeom prst="rect">
            <a:avLst/>
          </a:prstGeom>
        </p:spPr>
      </p:pic>
      <p:pic>
        <p:nvPicPr>
          <p:cNvPr id="95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098652" y="5138928"/>
            <a:ext cx="256032" cy="256032"/>
          </a:xfrm>
          <a:prstGeom prst="rect">
            <a:avLst/>
          </a:prstGeom>
        </p:spPr>
      </p:pic>
      <p:sp>
        <p:nvSpPr>
          <p:cNvPr id="96" name="Text 25"/>
          <p:cNvSpPr txBox="1"/>
          <p:nvPr/>
        </p:nvSpPr>
        <p:spPr>
          <a:xfrm>
            <a:off x="54864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tool</a:t>
            </a:r>
            <a:endParaRPr lang="en-US" sz="900" dirty="0"/>
          </a:p>
        </p:txBody>
      </p:sp>
      <p:pic>
        <p:nvPicPr>
          <p:cNvPr id="97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778051" y="4526280"/>
            <a:ext cx="566928" cy="566928"/>
          </a:xfrm>
          <a:prstGeom prst="rect">
            <a:avLst/>
          </a:prstGeom>
        </p:spPr>
      </p:pic>
      <p:pic>
        <p:nvPicPr>
          <p:cNvPr id="98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823771" y="5138928"/>
            <a:ext cx="256032" cy="256032"/>
          </a:xfrm>
          <a:prstGeom prst="rect">
            <a:avLst/>
          </a:prstGeom>
        </p:spPr>
      </p:pic>
      <p:pic>
        <p:nvPicPr>
          <p:cNvPr id="99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107235" y="5138928"/>
            <a:ext cx="256032" cy="256032"/>
          </a:xfrm>
          <a:prstGeom prst="rect">
            <a:avLst/>
          </a:prstGeom>
        </p:spPr>
      </p:pic>
      <p:sp>
        <p:nvSpPr>
          <p:cNvPr id="100" name="Text 26"/>
          <p:cNvSpPr txBox="1"/>
          <p:nvPr/>
        </p:nvSpPr>
        <p:spPr>
          <a:xfrm>
            <a:off x="155722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clipboard</a:t>
            </a:r>
            <a:endParaRPr lang="en-US" sz="900" dirty="0"/>
          </a:p>
        </p:txBody>
      </p:sp>
      <p:pic>
        <p:nvPicPr>
          <p:cNvPr id="101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2786634" y="4526280"/>
            <a:ext cx="566928" cy="566928"/>
          </a:xfrm>
          <a:prstGeom prst="rect">
            <a:avLst/>
          </a:prstGeom>
        </p:spPr>
      </p:pic>
      <p:pic>
        <p:nvPicPr>
          <p:cNvPr id="102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2832354" y="5138928"/>
            <a:ext cx="256032" cy="256032"/>
          </a:xfrm>
          <a:prstGeom prst="rect">
            <a:avLst/>
          </a:prstGeom>
        </p:spPr>
      </p:pic>
      <p:pic>
        <p:nvPicPr>
          <p:cNvPr id="103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115818" y="5138928"/>
            <a:ext cx="256032" cy="256032"/>
          </a:xfrm>
          <a:prstGeom prst="rect">
            <a:avLst/>
          </a:prstGeom>
        </p:spPr>
      </p:pic>
      <p:sp>
        <p:nvSpPr>
          <p:cNvPr id="104" name="Text 27"/>
          <p:cNvSpPr txBox="1"/>
          <p:nvPr/>
        </p:nvSpPr>
        <p:spPr>
          <a:xfrm>
            <a:off x="25658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chat</a:t>
            </a:r>
            <a:endParaRPr lang="en-US" sz="900" dirty="0"/>
          </a:p>
        </p:txBody>
      </p:sp>
      <p:pic>
        <p:nvPicPr>
          <p:cNvPr id="10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3795217" y="4526280"/>
            <a:ext cx="566928" cy="566928"/>
          </a:xfrm>
          <a:prstGeom prst="rect">
            <a:avLst/>
          </a:prstGeom>
        </p:spPr>
      </p:pic>
      <p:pic>
        <p:nvPicPr>
          <p:cNvPr id="10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3840937" y="5138928"/>
            <a:ext cx="256032" cy="256032"/>
          </a:xfrm>
          <a:prstGeom prst="rect">
            <a:avLst/>
          </a:prstGeom>
        </p:spPr>
      </p:pic>
      <p:pic>
        <p:nvPicPr>
          <p:cNvPr id="10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24401" y="5138928"/>
            <a:ext cx="256032" cy="256032"/>
          </a:xfrm>
          <a:prstGeom prst="rect">
            <a:avLst/>
          </a:prstGeom>
        </p:spPr>
      </p:pic>
      <p:sp>
        <p:nvSpPr>
          <p:cNvPr id="108" name="Text 28"/>
          <p:cNvSpPr txBox="1"/>
          <p:nvPr/>
        </p:nvSpPr>
        <p:spPr>
          <a:xfrm>
            <a:off x="3574390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lock</a:t>
            </a:r>
            <a:endParaRPr lang="en-US" sz="900" dirty="0"/>
          </a:p>
        </p:txBody>
      </p:sp>
      <p:pic>
        <p:nvPicPr>
          <p:cNvPr id="10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4803800" y="4526280"/>
            <a:ext cx="566928" cy="566928"/>
          </a:xfrm>
          <a:prstGeom prst="rect">
            <a:avLst/>
          </a:prstGeom>
        </p:spPr>
      </p:pic>
      <p:pic>
        <p:nvPicPr>
          <p:cNvPr id="11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849520" y="5138928"/>
            <a:ext cx="256032" cy="256032"/>
          </a:xfrm>
          <a:prstGeom prst="rect">
            <a:avLst/>
          </a:prstGeom>
        </p:spPr>
      </p:pic>
      <p:pic>
        <p:nvPicPr>
          <p:cNvPr id="11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5132984" y="5138928"/>
            <a:ext cx="256032" cy="256032"/>
          </a:xfrm>
          <a:prstGeom prst="rect">
            <a:avLst/>
          </a:prstGeom>
        </p:spPr>
      </p:pic>
      <p:sp>
        <p:nvSpPr>
          <p:cNvPr id="112" name="Text 29"/>
          <p:cNvSpPr txBox="1"/>
          <p:nvPr/>
        </p:nvSpPr>
        <p:spPr>
          <a:xfrm>
            <a:off x="4582973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refresh</a:t>
            </a:r>
            <a:endParaRPr lang="en-US" sz="900" dirty="0"/>
          </a:p>
        </p:txBody>
      </p:sp>
      <p:pic>
        <p:nvPicPr>
          <p:cNvPr id="113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812384" y="4526280"/>
            <a:ext cx="566928" cy="566928"/>
          </a:xfrm>
          <a:prstGeom prst="rect">
            <a:avLst/>
          </a:prstGeom>
        </p:spPr>
      </p:pic>
      <p:pic>
        <p:nvPicPr>
          <p:cNvPr id="114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858104" y="5138928"/>
            <a:ext cx="256032" cy="256032"/>
          </a:xfrm>
          <a:prstGeom prst="rect">
            <a:avLst/>
          </a:prstGeom>
        </p:spPr>
      </p:pic>
      <p:pic>
        <p:nvPicPr>
          <p:cNvPr id="115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141568" y="5138928"/>
            <a:ext cx="256032" cy="256032"/>
          </a:xfrm>
          <a:prstGeom prst="rect">
            <a:avLst/>
          </a:prstGeom>
        </p:spPr>
      </p:pic>
      <p:sp>
        <p:nvSpPr>
          <p:cNvPr id="116" name="Text 30"/>
          <p:cNvSpPr txBox="1"/>
          <p:nvPr/>
        </p:nvSpPr>
        <p:spPr>
          <a:xfrm>
            <a:off x="559155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id-card</a:t>
            </a:r>
            <a:endParaRPr lang="en-US" sz="900" dirty="0"/>
          </a:p>
        </p:txBody>
      </p:sp>
      <p:pic>
        <p:nvPicPr>
          <p:cNvPr id="117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820967" y="4526280"/>
            <a:ext cx="566928" cy="566928"/>
          </a:xfrm>
          <a:prstGeom prst="rect">
            <a:avLst/>
          </a:prstGeom>
        </p:spPr>
      </p:pic>
      <p:pic>
        <p:nvPicPr>
          <p:cNvPr id="118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866687" y="5138928"/>
            <a:ext cx="256032" cy="256032"/>
          </a:xfrm>
          <a:prstGeom prst="rect">
            <a:avLst/>
          </a:prstGeom>
        </p:spPr>
      </p:pic>
      <p:pic>
        <p:nvPicPr>
          <p:cNvPr id="119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50151" y="5138928"/>
            <a:ext cx="256032" cy="256032"/>
          </a:xfrm>
          <a:prstGeom prst="rect">
            <a:avLst/>
          </a:prstGeom>
        </p:spPr>
      </p:pic>
      <p:sp>
        <p:nvSpPr>
          <p:cNvPr id="120" name="Text 31"/>
          <p:cNvSpPr txBox="1"/>
          <p:nvPr/>
        </p:nvSpPr>
        <p:spPr>
          <a:xfrm>
            <a:off x="660013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circle-empty</a:t>
            </a:r>
            <a:endParaRPr lang="en-US" sz="900" dirty="0"/>
          </a:p>
        </p:txBody>
      </p:sp>
      <p:pic>
        <p:nvPicPr>
          <p:cNvPr id="121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7829550" y="4526280"/>
            <a:ext cx="566928" cy="566928"/>
          </a:xfrm>
          <a:prstGeom prst="rect">
            <a:avLst/>
          </a:prstGeom>
        </p:spPr>
      </p:pic>
      <p:pic>
        <p:nvPicPr>
          <p:cNvPr id="122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7875270" y="5138928"/>
            <a:ext cx="256032" cy="256032"/>
          </a:xfrm>
          <a:prstGeom prst="rect">
            <a:avLst/>
          </a:prstGeom>
        </p:spPr>
      </p:pic>
      <p:pic>
        <p:nvPicPr>
          <p:cNvPr id="123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8158734" y="5138928"/>
            <a:ext cx="256032" cy="256032"/>
          </a:xfrm>
          <a:prstGeom prst="rect">
            <a:avLst/>
          </a:prstGeom>
        </p:spPr>
      </p:pic>
      <p:sp>
        <p:nvSpPr>
          <p:cNvPr id="124" name="Text 32"/>
          <p:cNvSpPr txBox="1"/>
          <p:nvPr/>
        </p:nvSpPr>
        <p:spPr>
          <a:xfrm>
            <a:off x="760872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circle-half</a:t>
            </a:r>
            <a:endParaRPr lang="en-US" sz="900" dirty="0"/>
          </a:p>
        </p:txBody>
      </p:sp>
      <p:pic>
        <p:nvPicPr>
          <p:cNvPr id="125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8838133" y="4526280"/>
            <a:ext cx="566928" cy="566928"/>
          </a:xfrm>
          <a:prstGeom prst="rect">
            <a:avLst/>
          </a:prstGeom>
        </p:spPr>
      </p:pic>
      <p:pic>
        <p:nvPicPr>
          <p:cNvPr id="126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883853" y="5138928"/>
            <a:ext cx="256032" cy="256032"/>
          </a:xfrm>
          <a:prstGeom prst="rect">
            <a:avLst/>
          </a:prstGeom>
        </p:spPr>
      </p:pic>
      <p:pic>
        <p:nvPicPr>
          <p:cNvPr id="127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167317" y="5138928"/>
            <a:ext cx="256032" cy="256032"/>
          </a:xfrm>
          <a:prstGeom prst="rect">
            <a:avLst/>
          </a:prstGeom>
        </p:spPr>
      </p:pic>
      <p:sp>
        <p:nvSpPr>
          <p:cNvPr id="128" name="Text 33"/>
          <p:cNvSpPr txBox="1"/>
          <p:nvPr/>
        </p:nvSpPr>
        <p:spPr>
          <a:xfrm>
            <a:off x="8617306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circle-check</a:t>
            </a:r>
            <a:endParaRPr lang="en-US" sz="900" dirty="0"/>
          </a:p>
        </p:txBody>
      </p:sp>
      <p:pic>
        <p:nvPicPr>
          <p:cNvPr id="129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9846716" y="4526280"/>
            <a:ext cx="566928" cy="566928"/>
          </a:xfrm>
          <a:prstGeom prst="rect">
            <a:avLst/>
          </a:prstGeom>
        </p:spPr>
      </p:pic>
      <p:pic>
        <p:nvPicPr>
          <p:cNvPr id="130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892436" y="5138928"/>
            <a:ext cx="256032" cy="256032"/>
          </a:xfrm>
          <a:prstGeom prst="rect">
            <a:avLst/>
          </a:prstGeom>
        </p:spPr>
      </p:pic>
      <p:pic>
        <p:nvPicPr>
          <p:cNvPr id="131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0175900" y="5138928"/>
            <a:ext cx="256032" cy="256032"/>
          </a:xfrm>
          <a:prstGeom prst="rect">
            <a:avLst/>
          </a:prstGeom>
        </p:spPr>
      </p:pic>
      <p:sp>
        <p:nvSpPr>
          <p:cNvPr id="132" name="Text 34"/>
          <p:cNvSpPr txBox="1"/>
          <p:nvPr/>
        </p:nvSpPr>
        <p:spPr>
          <a:xfrm>
            <a:off x="9625889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menu</a:t>
            </a:r>
            <a:endParaRPr lang="en-US" sz="900" dirty="0"/>
          </a:p>
        </p:txBody>
      </p:sp>
      <p:pic>
        <p:nvPicPr>
          <p:cNvPr id="133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10855300" y="4526280"/>
            <a:ext cx="566928" cy="566928"/>
          </a:xfrm>
          <a:prstGeom prst="rect">
            <a:avLst/>
          </a:prstGeom>
        </p:spPr>
      </p:pic>
      <p:pic>
        <p:nvPicPr>
          <p:cNvPr id="134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10901020" y="5138928"/>
            <a:ext cx="256032" cy="256032"/>
          </a:xfrm>
          <a:prstGeom prst="rect">
            <a:avLst/>
          </a:prstGeom>
        </p:spPr>
      </p:pic>
      <p:pic>
        <p:nvPicPr>
          <p:cNvPr id="135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11184484" y="5138928"/>
            <a:ext cx="256032" cy="256032"/>
          </a:xfrm>
          <a:prstGeom prst="rect">
            <a:avLst/>
          </a:prstGeom>
        </p:spPr>
      </p:pic>
      <p:sp>
        <p:nvSpPr>
          <p:cNvPr id="136" name="Text 35"/>
          <p:cNvSpPr txBox="1"/>
          <p:nvPr/>
        </p:nvSpPr>
        <p:spPr>
          <a:xfrm>
            <a:off x="10634472" y="5440680"/>
            <a:ext cx="1008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6564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medal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Barlow Condensed"/>
                <a:ea typeface="Barlow Condensed"/>
                <a:cs typeface="Barlow Condensed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pus Pivot · Super Humanos">
  <a:themeElements>
    <a:clrScheme name="Campus Pivot · Super Humanos">
      <a:dk1>
        <a:srgbClr val="0D0D0C"/>
      </a:dk1>
      <a:lt1>
        <a:srgbClr val="FFFFFF"/>
      </a:lt1>
      <a:dk2>
        <a:srgbClr val="3D3D38"/>
      </a:dk2>
      <a:lt2>
        <a:srgbClr val="F7F7F5"/>
      </a:lt2>
      <a:accent1>
        <a:srgbClr val="FCC800"/>
      </a:accent1>
      <a:accent2>
        <a:srgbClr val="8A6B00"/>
      </a:accent2>
      <a:accent3>
        <a:srgbClr val="56564F"/>
      </a:accent3>
      <a:accent4>
        <a:srgbClr val="15702F"/>
      </a:accent4>
      <a:accent5>
        <a:srgbClr val="1D5FBF"/>
      </a:accent5>
      <a:accent6>
        <a:srgbClr val="B54708"/>
      </a:accent6>
      <a:hlink>
        <a:srgbClr val="0D0D0C"/>
      </a:hlink>
      <a:folHlink>
        <a:srgbClr val="56564F"/>
      </a:folHlink>
    </a:clrScheme>
    <a:fontScheme name="Campus Pivot · Super Humanos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Pivot Power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taller · Consultorio</dc:title>
  <dc:subject>PptxGenJS Presentation</dc:subject>
  <dc:creator>Pivot Power</dc:creator>
  <cp:lastModifiedBy>Pivot Power</cp:lastModifiedBy>
  <cp:revision>1</cp:revision>
  <dcterms:created xsi:type="dcterms:W3CDTF">2026-10-03T13:07:38Z</dcterms:created>
  <dcterms:modified xsi:type="dcterms:W3CDTF">2026-10-03T13:07:38Z</dcterms:modified>
</cp:coreProperties>
</file>